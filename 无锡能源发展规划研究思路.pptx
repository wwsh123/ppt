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64008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1C2D7"/>
                </a:solidFill>
                <a:latin typeface="Microsoft YaHei"/>
              </a:rPr>
              <a:t>十五五 · 无锡能源发展规划研究思路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428232"/>
            <a:ext cx="50292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297B3"/>
                </a:solidFill>
                <a:latin typeface="Microsoft YaHei"/>
              </a:rP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943600"/>
            <a:ext cx="530352" cy="914400"/>
          </a:xfrm>
          <a:prstGeom prst="rect">
            <a:avLst/>
          </a:prstGeom>
          <a:solidFill>
            <a:srgbClr val="102A49"/>
          </a:solidFill>
          <a:ln>
            <a:solidFill>
              <a:srgbClr val="102A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5440680"/>
            <a:ext cx="530352" cy="1417320"/>
          </a:xfrm>
          <a:prstGeom prst="rect">
            <a:avLst/>
          </a:prstGeom>
          <a:solidFill>
            <a:srgbClr val="102A49"/>
          </a:solidFill>
          <a:ln>
            <a:solidFill>
              <a:srgbClr val="102A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63040" y="6080760"/>
            <a:ext cx="530352" cy="777240"/>
          </a:xfrm>
          <a:prstGeom prst="rect">
            <a:avLst/>
          </a:prstGeom>
          <a:solidFill>
            <a:srgbClr val="102A49"/>
          </a:solidFill>
          <a:ln>
            <a:solidFill>
              <a:srgbClr val="102A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148840" y="5212080"/>
            <a:ext cx="530352" cy="1645920"/>
          </a:xfrm>
          <a:prstGeom prst="rect">
            <a:avLst/>
          </a:prstGeom>
          <a:solidFill>
            <a:srgbClr val="102A49"/>
          </a:solidFill>
          <a:ln>
            <a:solidFill>
              <a:srgbClr val="102A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880360" y="5852160"/>
            <a:ext cx="530352" cy="1005840"/>
          </a:xfrm>
          <a:prstGeom prst="rect">
            <a:avLst/>
          </a:prstGeom>
          <a:solidFill>
            <a:srgbClr val="102A49"/>
          </a:solidFill>
          <a:ln>
            <a:solidFill>
              <a:srgbClr val="102A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0" y="4846320"/>
            <a:ext cx="530352" cy="2011680"/>
          </a:xfrm>
          <a:prstGeom prst="rect">
            <a:avLst/>
          </a:prstGeom>
          <a:solidFill>
            <a:srgbClr val="102A49"/>
          </a:solidFill>
          <a:ln>
            <a:solidFill>
              <a:srgbClr val="102A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0" y="5715000"/>
            <a:ext cx="530352" cy="1143000"/>
          </a:xfrm>
          <a:prstGeom prst="rect">
            <a:avLst/>
          </a:prstGeom>
          <a:solidFill>
            <a:srgbClr val="102A49"/>
          </a:solidFill>
          <a:ln>
            <a:solidFill>
              <a:srgbClr val="102A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4389120"/>
            <a:ext cx="530352" cy="2468880"/>
          </a:xfrm>
          <a:prstGeom prst="rect">
            <a:avLst/>
          </a:prstGeom>
          <a:solidFill>
            <a:srgbClr val="102A49"/>
          </a:solidFill>
          <a:ln>
            <a:solidFill>
              <a:srgbClr val="102A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92240" y="5760720"/>
            <a:ext cx="530352" cy="1097280"/>
          </a:xfrm>
          <a:prstGeom prst="rect">
            <a:avLst/>
          </a:prstGeom>
          <a:solidFill>
            <a:srgbClr val="102A49"/>
          </a:solidFill>
          <a:ln>
            <a:solidFill>
              <a:srgbClr val="102A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98079" y="5120640"/>
            <a:ext cx="530352" cy="1737360"/>
          </a:xfrm>
          <a:prstGeom prst="rect">
            <a:avLst/>
          </a:prstGeom>
          <a:solidFill>
            <a:srgbClr val="102A49"/>
          </a:solidFill>
          <a:ln>
            <a:solidFill>
              <a:srgbClr val="102A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595360" y="5943600"/>
            <a:ext cx="530352" cy="914400"/>
          </a:xfrm>
          <a:prstGeom prst="rect">
            <a:avLst/>
          </a:prstGeom>
          <a:solidFill>
            <a:srgbClr val="102A49"/>
          </a:solidFill>
          <a:ln>
            <a:solidFill>
              <a:srgbClr val="102A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509760" y="4937760"/>
            <a:ext cx="530352" cy="1920240"/>
          </a:xfrm>
          <a:prstGeom prst="rect">
            <a:avLst/>
          </a:prstGeom>
          <a:solidFill>
            <a:srgbClr val="102A49"/>
          </a:solidFill>
          <a:ln>
            <a:solidFill>
              <a:srgbClr val="102A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515600" y="5577840"/>
            <a:ext cx="530352" cy="1280160"/>
          </a:xfrm>
          <a:prstGeom prst="rect">
            <a:avLst/>
          </a:prstGeom>
          <a:solidFill>
            <a:srgbClr val="102A49"/>
          </a:solidFill>
          <a:ln>
            <a:solidFill>
              <a:srgbClr val="102A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0" y="4663440"/>
            <a:ext cx="530352" cy="2194560"/>
          </a:xfrm>
          <a:prstGeom prst="rect">
            <a:avLst/>
          </a:prstGeom>
          <a:solidFill>
            <a:srgbClr val="102A49"/>
          </a:solidFill>
          <a:ln>
            <a:solidFill>
              <a:srgbClr val="102A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05840" y="1828800"/>
            <a:ext cx="128016" cy="128016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017520" y="1005840"/>
            <a:ext cx="128016" cy="128016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754880" y="2194560"/>
            <a:ext cx="128016" cy="128016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949440" y="1280160"/>
            <a:ext cx="128016" cy="128016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961120" y="2103120"/>
            <a:ext cx="128016" cy="128016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332720" y="914400"/>
            <a:ext cx="128016" cy="128016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 flipV="1">
            <a:off x="1069848" y="1069848"/>
            <a:ext cx="2011680" cy="822959"/>
          </a:xfrm>
          <a:prstGeom prst="line">
            <a:avLst/>
          </a:prstGeom>
          <a:ln w="17780">
            <a:solidFill>
              <a:srgbClr val="44BE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081528" y="1069848"/>
            <a:ext cx="1737360" cy="1188720"/>
          </a:xfrm>
          <a:prstGeom prst="line">
            <a:avLst/>
          </a:prstGeom>
          <a:ln w="17780">
            <a:solidFill>
              <a:srgbClr val="44BE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4818888" y="1344168"/>
            <a:ext cx="2194560" cy="914400"/>
          </a:xfrm>
          <a:prstGeom prst="line">
            <a:avLst/>
          </a:prstGeom>
          <a:ln w="17780">
            <a:solidFill>
              <a:srgbClr val="44BE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013448" y="1344168"/>
            <a:ext cx="2011680" cy="822960"/>
          </a:xfrm>
          <a:prstGeom prst="line">
            <a:avLst/>
          </a:prstGeom>
          <a:ln w="17780">
            <a:solidFill>
              <a:srgbClr val="44BE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9025128" y="978408"/>
            <a:ext cx="1371600" cy="1188720"/>
          </a:xfrm>
          <a:prstGeom prst="line">
            <a:avLst/>
          </a:prstGeom>
          <a:ln w="17780">
            <a:solidFill>
              <a:srgbClr val="44BE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07213B"/>
          </a:solidFill>
          <a:ln>
            <a:solidFill>
              <a:srgbClr val="0721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5943600"/>
            <a:ext cx="530352" cy="914400"/>
          </a:xfrm>
          <a:prstGeom prst="rect">
            <a:avLst/>
          </a:prstGeom>
          <a:solidFill>
            <a:srgbClr val="102A49"/>
          </a:solidFill>
          <a:ln>
            <a:solidFill>
              <a:srgbClr val="102A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1520" y="5440680"/>
            <a:ext cx="530352" cy="1417320"/>
          </a:xfrm>
          <a:prstGeom prst="rect">
            <a:avLst/>
          </a:prstGeom>
          <a:solidFill>
            <a:srgbClr val="102A49"/>
          </a:solidFill>
          <a:ln>
            <a:solidFill>
              <a:srgbClr val="102A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463040" y="6080760"/>
            <a:ext cx="530352" cy="777240"/>
          </a:xfrm>
          <a:prstGeom prst="rect">
            <a:avLst/>
          </a:prstGeom>
          <a:solidFill>
            <a:srgbClr val="102A49"/>
          </a:solidFill>
          <a:ln>
            <a:solidFill>
              <a:srgbClr val="102A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148840" y="5212080"/>
            <a:ext cx="530352" cy="1645920"/>
          </a:xfrm>
          <a:prstGeom prst="rect">
            <a:avLst/>
          </a:prstGeom>
          <a:solidFill>
            <a:srgbClr val="102A49"/>
          </a:solidFill>
          <a:ln>
            <a:solidFill>
              <a:srgbClr val="102A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880360" y="5852160"/>
            <a:ext cx="530352" cy="1005840"/>
          </a:xfrm>
          <a:prstGeom prst="rect">
            <a:avLst/>
          </a:prstGeom>
          <a:solidFill>
            <a:srgbClr val="102A49"/>
          </a:solidFill>
          <a:ln>
            <a:solidFill>
              <a:srgbClr val="102A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657600" y="4846320"/>
            <a:ext cx="530352" cy="2011680"/>
          </a:xfrm>
          <a:prstGeom prst="rect">
            <a:avLst/>
          </a:prstGeom>
          <a:solidFill>
            <a:srgbClr val="102A49"/>
          </a:solidFill>
          <a:ln>
            <a:solidFill>
              <a:srgbClr val="102A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0" y="5715000"/>
            <a:ext cx="530352" cy="1143000"/>
          </a:xfrm>
          <a:prstGeom prst="rect">
            <a:avLst/>
          </a:prstGeom>
          <a:solidFill>
            <a:srgbClr val="102A49"/>
          </a:solidFill>
          <a:ln>
            <a:solidFill>
              <a:srgbClr val="102A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486400" y="4389120"/>
            <a:ext cx="530352" cy="2468880"/>
          </a:xfrm>
          <a:prstGeom prst="rect">
            <a:avLst/>
          </a:prstGeom>
          <a:solidFill>
            <a:srgbClr val="102A49"/>
          </a:solidFill>
          <a:ln>
            <a:solidFill>
              <a:srgbClr val="102A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492240" y="5760720"/>
            <a:ext cx="530352" cy="1097280"/>
          </a:xfrm>
          <a:prstGeom prst="rect">
            <a:avLst/>
          </a:prstGeom>
          <a:solidFill>
            <a:srgbClr val="102A49"/>
          </a:solidFill>
          <a:ln>
            <a:solidFill>
              <a:srgbClr val="102A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498079" y="5120640"/>
            <a:ext cx="530352" cy="1737360"/>
          </a:xfrm>
          <a:prstGeom prst="rect">
            <a:avLst/>
          </a:prstGeom>
          <a:solidFill>
            <a:srgbClr val="102A49"/>
          </a:solidFill>
          <a:ln>
            <a:solidFill>
              <a:srgbClr val="102A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595360" y="5943600"/>
            <a:ext cx="530352" cy="914400"/>
          </a:xfrm>
          <a:prstGeom prst="rect">
            <a:avLst/>
          </a:prstGeom>
          <a:solidFill>
            <a:srgbClr val="102A49"/>
          </a:solidFill>
          <a:ln>
            <a:solidFill>
              <a:srgbClr val="102A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509760" y="4937760"/>
            <a:ext cx="530352" cy="1920240"/>
          </a:xfrm>
          <a:prstGeom prst="rect">
            <a:avLst/>
          </a:prstGeom>
          <a:solidFill>
            <a:srgbClr val="102A49"/>
          </a:solidFill>
          <a:ln>
            <a:solidFill>
              <a:srgbClr val="102A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515600" y="5577840"/>
            <a:ext cx="530352" cy="1280160"/>
          </a:xfrm>
          <a:prstGeom prst="rect">
            <a:avLst/>
          </a:prstGeom>
          <a:solidFill>
            <a:srgbClr val="102A49"/>
          </a:solidFill>
          <a:ln>
            <a:solidFill>
              <a:srgbClr val="102A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1430000" y="4663440"/>
            <a:ext cx="530352" cy="2194560"/>
          </a:xfrm>
          <a:prstGeom prst="rect">
            <a:avLst/>
          </a:prstGeom>
          <a:solidFill>
            <a:srgbClr val="102A49"/>
          </a:solidFill>
          <a:ln>
            <a:solidFill>
              <a:srgbClr val="102A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05840" y="1828800"/>
            <a:ext cx="128016" cy="128016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3017520" y="1005840"/>
            <a:ext cx="128016" cy="128016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754880" y="2194560"/>
            <a:ext cx="128016" cy="128016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949440" y="1280160"/>
            <a:ext cx="128016" cy="128016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8961120" y="2103120"/>
            <a:ext cx="128016" cy="128016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332720" y="914400"/>
            <a:ext cx="128016" cy="128016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" name="Connector 50"/>
          <p:cNvCxnSpPr/>
          <p:nvPr/>
        </p:nvCxnSpPr>
        <p:spPr>
          <a:xfrm flipV="1">
            <a:off x="1069848" y="1069848"/>
            <a:ext cx="2011680" cy="822959"/>
          </a:xfrm>
          <a:prstGeom prst="line">
            <a:avLst/>
          </a:prstGeom>
          <a:ln w="17780">
            <a:solidFill>
              <a:srgbClr val="44BE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3081528" y="1069848"/>
            <a:ext cx="1737360" cy="1188720"/>
          </a:xfrm>
          <a:prstGeom prst="line">
            <a:avLst/>
          </a:prstGeom>
          <a:ln w="17780">
            <a:solidFill>
              <a:srgbClr val="44BE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4818888" y="1344168"/>
            <a:ext cx="2194560" cy="914400"/>
          </a:xfrm>
          <a:prstGeom prst="line">
            <a:avLst/>
          </a:prstGeom>
          <a:ln w="17780">
            <a:solidFill>
              <a:srgbClr val="44BE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7013448" y="1344168"/>
            <a:ext cx="2011680" cy="822960"/>
          </a:xfrm>
          <a:prstGeom prst="line">
            <a:avLst/>
          </a:prstGeom>
          <a:ln w="17780">
            <a:solidFill>
              <a:srgbClr val="44BE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9025128" y="978408"/>
            <a:ext cx="1371600" cy="1188720"/>
          </a:xfrm>
          <a:prstGeom prst="line">
            <a:avLst/>
          </a:prstGeom>
          <a:ln w="17780">
            <a:solidFill>
              <a:srgbClr val="44BE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685800" y="1417320"/>
            <a:ext cx="8138160" cy="6858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 i="0">
                <a:solidFill>
                  <a:srgbClr val="FFFFFF"/>
                </a:solidFill>
                <a:latin typeface="Microsoft YaHei"/>
              </a:rPr>
              <a:t>“十五五”时期无锡能源发展规划研究思路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13232" y="2286000"/>
            <a:ext cx="850392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C3D7EB"/>
                </a:solidFill>
                <a:latin typeface="Microsoft YaHei"/>
              </a:rPr>
              <a:t>构建清洁低碳、安全韧性、数智协同的现代新型城市能源体系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31520" y="2980944"/>
            <a:ext cx="960120" cy="640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31520" y="3273552"/>
            <a:ext cx="59436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AABFD7"/>
                </a:solidFill>
                <a:latin typeface="Microsoft YaHei"/>
              </a:rPr>
              <a:t>无锡市发展和改革委员会  /  能源规划专项研究组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31520" y="3767328"/>
            <a:ext cx="1691640" cy="256032"/>
          </a:xfrm>
          <a:prstGeom prst="roundRect">
            <a:avLst>
              <a:gd name="adj" fmla="val 8000"/>
            </a:avLst>
          </a:prstGeom>
          <a:solidFill>
            <a:srgbClr val="18485D"/>
          </a:solidFill>
          <a:ln>
            <a:solidFill>
              <a:srgbClr val="1848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31520" y="3776472"/>
            <a:ext cx="169164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84E9CA"/>
                </a:solidFill>
                <a:latin typeface="Microsoft YaHei"/>
              </a:rPr>
              <a:t>规划研究 · 2025—2030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31520" y="6080760"/>
            <a:ext cx="7772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9BB2CB"/>
                </a:solidFill>
                <a:latin typeface="Microsoft YaHei"/>
              </a:rPr>
              <a:t>太湖生态红线区  ·  万亿级制造业高地  ·  双碳达峰冲刺期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62179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C6C7F"/>
                </a:solidFill>
                <a:latin typeface="Microsoft YaHei"/>
              </a:rPr>
              <a:t>十五五 · 无锡能源发展规划研究思路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88136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0A192F"/>
                </a:solidFill>
                <a:latin typeface="Microsoft YaHei"/>
              </a:rPr>
              <a:t>引言与核心摘要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493776" cy="54864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28232"/>
            <a:ext cx="50292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C6C7F"/>
                </a:solidFill>
                <a:latin typeface="Microsoft YaHei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5212080" cy="1097280"/>
          </a:xfrm>
          <a:prstGeom prst="roundRect">
            <a:avLst>
              <a:gd name="adj" fmla="val 8000"/>
            </a:avLst>
          </a:prstGeom>
          <a:solidFill>
            <a:srgbClr val="E8EFFD"/>
          </a:solidFill>
          <a:ln>
            <a:solidFill>
              <a:srgbClr val="E8EF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54480"/>
            <a:ext cx="64008" cy="109728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91639"/>
            <a:ext cx="489204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8273C"/>
                </a:solidFill>
                <a:latin typeface="Microsoft YaHei"/>
              </a:rPr>
              <a:t>战略能位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029967"/>
            <a:ext cx="4892040" cy="512063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C6C7F"/>
                </a:solidFill>
                <a:latin typeface="Microsoft YaHei"/>
              </a:rPr>
              <a:t>万亿级制造业高地  ·  太湖生态红线区  ·  “双碳”达峰冲刺期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971800"/>
            <a:ext cx="201168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A192F"/>
                </a:solidFill>
                <a:latin typeface="Microsoft YaHei"/>
              </a:rPr>
              <a:t>三大严苛边界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01568"/>
            <a:ext cx="1627632" cy="1874519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3232" y="3566160"/>
            <a:ext cx="310896" cy="310896"/>
          </a:xfrm>
          <a:prstGeom prst="ellipse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3575304"/>
            <a:ext cx="310896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" y="3547872"/>
            <a:ext cx="886968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8273C"/>
                </a:solidFill>
                <a:latin typeface="Microsoft YaHei"/>
              </a:rPr>
              <a:t>资源匮乏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931920"/>
            <a:ext cx="1261872" cy="1216151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C6C7F"/>
                </a:solidFill>
                <a:latin typeface="Microsoft YaHei"/>
              </a:rPr>
              <a:t>一次能源自给率
不足 5%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304288" y="3401568"/>
            <a:ext cx="1627632" cy="1874519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468880" y="3566160"/>
            <a:ext cx="310896" cy="310896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68880" y="3575304"/>
            <a:ext cx="310896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360" y="3547872"/>
            <a:ext cx="886968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8273C"/>
                </a:solidFill>
                <a:latin typeface="Microsoft YaHei"/>
              </a:rPr>
              <a:t>刚性指标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87168" y="3931920"/>
            <a:ext cx="1261872" cy="1216151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C6C7F"/>
                </a:solidFill>
                <a:latin typeface="Microsoft YaHei"/>
              </a:rPr>
              <a:t>GDP 年均增速
约 5%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59936" y="3401568"/>
            <a:ext cx="1627632" cy="1874519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224528" y="3566160"/>
            <a:ext cx="310896" cy="310896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24528" y="3575304"/>
            <a:ext cx="310896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36008" y="3547872"/>
            <a:ext cx="886968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8273C"/>
                </a:solidFill>
                <a:latin typeface="Microsoft YaHei"/>
              </a:rPr>
              <a:t>用能升级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42816" y="3931920"/>
            <a:ext cx="1261872" cy="1216151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C6C7F"/>
                </a:solidFill>
                <a:latin typeface="Microsoft YaHei"/>
              </a:rPr>
              <a:t>微秒级高可靠
100% 全溯源绿电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1554480"/>
            <a:ext cx="5440680" cy="3749039"/>
          </a:xfrm>
          <a:prstGeom prst="roundRect">
            <a:avLst>
              <a:gd name="adj" fmla="val 8000"/>
            </a:avLst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1874519"/>
            <a:ext cx="18288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9DB6D2"/>
                </a:solidFill>
                <a:latin typeface="Microsoft YaHei"/>
              </a:rPr>
              <a:t>破局方针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2487168"/>
            <a:ext cx="192024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Microsoft YaHei"/>
              </a:rPr>
              <a:t>内源极限挖潜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2487168"/>
            <a:ext cx="32004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10B981"/>
                </a:solidFill>
                <a:latin typeface="Microsoft YaHei"/>
              </a:rPr>
              <a:t>+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15400" y="2487168"/>
            <a:ext cx="201168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Microsoft YaHei"/>
              </a:rPr>
              <a:t>跨区战略引绿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3246120"/>
            <a:ext cx="32004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10B981"/>
                </a:solidFill>
                <a:latin typeface="Microsoft YaHei"/>
              </a:rPr>
              <a:t>+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3246120"/>
            <a:ext cx="246888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Microsoft YaHei"/>
              </a:rPr>
              <a:t>数智源网荷储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4160520"/>
            <a:ext cx="4297680" cy="5943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BECDE0"/>
                </a:solidFill>
                <a:latin typeface="Microsoft YaHei"/>
              </a:rPr>
              <a:t>把外部资源、城市空间与数字能力
转化为可验证的能源安全与产业竞争力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37960" y="4892040"/>
            <a:ext cx="4343400" cy="256032"/>
          </a:xfrm>
          <a:prstGeom prst="roundRect">
            <a:avLst>
              <a:gd name="adj" fmla="val 8000"/>
            </a:avLst>
          </a:prstGeom>
          <a:solidFill>
            <a:srgbClr val="194258"/>
          </a:solidFill>
          <a:ln>
            <a:solidFill>
              <a:srgbClr val="1942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37960" y="4901183"/>
            <a:ext cx="434340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83E7C3"/>
                </a:solidFill>
                <a:latin typeface="Microsoft YaHei"/>
              </a:rPr>
              <a:t>核心判断：能源系统必须从“供给保障”升级为“产业底座”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62179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C6C7F"/>
                </a:solidFill>
                <a:latin typeface="Microsoft YaHei"/>
              </a:rPr>
              <a:t>十五五 · 无锡能源发展规划研究思路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88136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0A192F"/>
                </a:solidFill>
                <a:latin typeface="Microsoft YaHei"/>
              </a:rPr>
              <a:t>一、发展现状——“十四五”供应底盘与运行成效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493776" cy="54864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28232"/>
            <a:ext cx="50292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C6C7F"/>
                </a:solidFill>
                <a:latin typeface="Microsoft YaHei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2542032" cy="214884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64008" cy="214884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2221991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8273C"/>
                </a:solidFill>
                <a:latin typeface="Microsoft YaHei"/>
              </a:rPr>
              <a:t>煤炭压舱石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039112"/>
            <a:ext cx="2221991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E3A8A"/>
                </a:solidFill>
                <a:latin typeface="Microsoft YaHei"/>
              </a:rPr>
              <a:t>2473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542032"/>
            <a:ext cx="2221991" cy="11247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C6C7F"/>
                </a:solidFill>
                <a:latin typeface="Microsoft YaHei"/>
              </a:rPr>
              <a:t>万吨 / 年消费量稳定
600 万千瓦公用煤电全超低排放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64992" y="1600200"/>
            <a:ext cx="2542032" cy="214884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64992" y="1600200"/>
            <a:ext cx="64008" cy="21488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47872" y="1737360"/>
            <a:ext cx="2221991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8273C"/>
                </a:solidFill>
                <a:latin typeface="Microsoft YaHei"/>
              </a:rPr>
              <a:t>装机多元化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7872" y="2039112"/>
            <a:ext cx="2221991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0B981"/>
                </a:solidFill>
                <a:latin typeface="Microsoft YaHei"/>
              </a:rPr>
              <a:t>1932.5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47872" y="2542032"/>
            <a:ext cx="2221991" cy="11247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C6C7F"/>
                </a:solidFill>
                <a:latin typeface="Microsoft YaHei"/>
              </a:rPr>
              <a:t>万千瓦 / 总装机
非化石占比 42.4% · 抽蓄 100 万千瓦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1344" y="1600200"/>
            <a:ext cx="2542032" cy="214884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81344" y="1600200"/>
            <a:ext cx="64008" cy="214884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64224" y="1737360"/>
            <a:ext cx="2221991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8273C"/>
                </a:solidFill>
                <a:latin typeface="Microsoft YaHei"/>
              </a:rPr>
              <a:t>油气储运网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64224" y="2039112"/>
            <a:ext cx="2221991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F59E0B"/>
                </a:solidFill>
                <a:latin typeface="Microsoft YaHei"/>
              </a:rPr>
              <a:t>513.8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64224" y="2542032"/>
            <a:ext cx="2221991" cy="11247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C6C7F"/>
                </a:solidFill>
                <a:latin typeface="Microsoft YaHei"/>
              </a:rPr>
              <a:t>万千瓦 / 气电顶峰
西气 + 川气双源 · LNG 二期扩容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97696" y="1600200"/>
            <a:ext cx="2542032" cy="214884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97696" y="1600200"/>
            <a:ext cx="64008" cy="214884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0576" y="1737360"/>
            <a:ext cx="2221991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8273C"/>
                </a:solidFill>
                <a:latin typeface="Microsoft YaHei"/>
              </a:rPr>
              <a:t>电网高可靠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0576" y="2039112"/>
            <a:ext cx="2221991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E3A8A"/>
                </a:solidFill>
                <a:latin typeface="Microsoft YaHei"/>
              </a:rPr>
              <a:t>6990.5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0576" y="2542032"/>
            <a:ext cx="2221991" cy="11247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C6C7F"/>
                </a:solidFill>
                <a:latin typeface="Microsoft YaHei"/>
              </a:rPr>
              <a:t>万千伏安 / 变电容量
最高负荷突破 1450 万千瓦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4297680"/>
            <a:ext cx="18288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A192F"/>
                </a:solidFill>
                <a:latin typeface="Microsoft YaHei"/>
              </a:rPr>
              <a:t>供应底盘判断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681728"/>
            <a:ext cx="3474720" cy="914400"/>
          </a:xfrm>
          <a:prstGeom prst="roundRect">
            <a:avLst>
              <a:gd name="adj" fmla="val 8000"/>
            </a:avLst>
          </a:prstGeom>
          <a:solidFill>
            <a:srgbClr val="E8EFFD"/>
          </a:solidFill>
          <a:ln>
            <a:solidFill>
              <a:srgbClr val="E8EF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4681728"/>
            <a:ext cx="64008" cy="91440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4818888"/>
            <a:ext cx="3154679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8273C"/>
                </a:solidFill>
                <a:latin typeface="Microsoft YaHei"/>
              </a:rPr>
              <a:t>底线稳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157216"/>
            <a:ext cx="3154679" cy="32918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C6C7F"/>
                </a:solidFill>
                <a:latin typeface="Microsoft YaHei"/>
              </a:rPr>
              <a:t>煤电、油气与跨区电力形成多元支撑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43400" y="4681728"/>
            <a:ext cx="3474720" cy="914400"/>
          </a:xfrm>
          <a:prstGeom prst="roundRect">
            <a:avLst>
              <a:gd name="adj" fmla="val 8000"/>
            </a:avLst>
          </a:prstGeom>
          <a:solidFill>
            <a:srgbClr val="E2F7EF"/>
          </a:solidFill>
          <a:ln>
            <a:solidFill>
              <a:srgbClr val="E2F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343400" y="4681728"/>
            <a:ext cx="64008" cy="9144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26280" y="4818888"/>
            <a:ext cx="3154679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8273C"/>
                </a:solidFill>
                <a:latin typeface="Microsoft YaHei"/>
              </a:rPr>
              <a:t>结构优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26280" y="5157216"/>
            <a:ext cx="3154679" cy="32918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C6C7F"/>
                </a:solidFill>
                <a:latin typeface="Microsoft YaHei"/>
              </a:rPr>
              <a:t>非化石装机突破四成，光伏成为增量主力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38160" y="4681728"/>
            <a:ext cx="3474720" cy="914400"/>
          </a:xfrm>
          <a:prstGeom prst="roundRect">
            <a:avLst>
              <a:gd name="adj" fmla="val 8000"/>
            </a:avLst>
          </a:prstGeom>
          <a:solidFill>
            <a:srgbClr val="FFF5DB"/>
          </a:solidFill>
          <a:ln>
            <a:solidFill>
              <a:srgbClr val="FFF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138160" y="4681728"/>
            <a:ext cx="64008" cy="91440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21040" y="4818888"/>
            <a:ext cx="3154679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8273C"/>
                </a:solidFill>
                <a:latin typeface="Microsoft YaHei"/>
              </a:rPr>
              <a:t>弹性需补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5157216"/>
            <a:ext cx="3154679" cy="32918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C6C7F"/>
                </a:solidFill>
                <a:latin typeface="Microsoft YaHei"/>
              </a:rPr>
              <a:t>气电、抽蓄与储能共同承担尖峰调节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62179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C6C7F"/>
                </a:solidFill>
                <a:latin typeface="Microsoft YaHei"/>
              </a:rPr>
              <a:t>十五五 · 无锡能源发展规划研究思路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88136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0A192F"/>
                </a:solidFill>
                <a:latin typeface="Microsoft YaHei"/>
              </a:rPr>
              <a:t>一、发展现状——能耗双控成效与转型亮点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493776" cy="54864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28232"/>
            <a:ext cx="50292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C6C7F"/>
                </a:solidFill>
                <a:latin typeface="Microsoft YaHei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08760"/>
            <a:ext cx="5440680" cy="4434840"/>
          </a:xfrm>
          <a:prstGeom prst="roundRect">
            <a:avLst>
              <a:gd name="adj" fmla="val 8000"/>
            </a:avLst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210312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A6BEDA"/>
                </a:solidFill>
                <a:latin typeface="Microsoft YaHei"/>
              </a:rPr>
              <a:t>节能量化指标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77440"/>
            <a:ext cx="2743200" cy="6858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200" b="1" i="0">
                <a:solidFill>
                  <a:srgbClr val="FFFFFF"/>
                </a:solidFill>
                <a:latin typeface="Microsoft YaHei"/>
              </a:rPr>
              <a:t>22.9%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90672"/>
            <a:ext cx="347472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BECFE3"/>
                </a:solidFill>
                <a:latin typeface="Microsoft YaHei"/>
              </a:rPr>
              <a:t>单位 GDP 能耗累计下降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6112" y="3749039"/>
            <a:ext cx="4389120" cy="164592"/>
          </a:xfrm>
          <a:prstGeom prst="rect">
            <a:avLst/>
          </a:prstGeom>
          <a:solidFill>
            <a:srgbClr val="364D6A"/>
          </a:solidFill>
          <a:ln>
            <a:solidFill>
              <a:srgbClr val="364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96112" y="3749039"/>
            <a:ext cx="3429000" cy="16459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3502152"/>
            <a:ext cx="914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9BB2CB"/>
                </a:solidFill>
                <a:latin typeface="Microsoft YaHei"/>
              </a:rPr>
              <a:t>省目标 14%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4343400"/>
            <a:ext cx="43891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Microsoft YaHei"/>
              </a:rPr>
              <a:t>工业增加值能耗累计下降 34.37%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5074920"/>
            <a:ext cx="448056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ECFE3"/>
                </a:solidFill>
                <a:latin typeface="Microsoft YaHei"/>
              </a:rPr>
              <a:t>全社会用电量 917.98 亿千瓦时 · 工业占 70%—75%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1554480"/>
            <a:ext cx="320040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A192F"/>
                </a:solidFill>
                <a:latin typeface="Microsoft YaHei"/>
              </a:rPr>
              <a:t>结构优化与智造集群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011680"/>
            <a:ext cx="5394960" cy="1051560"/>
          </a:xfrm>
          <a:prstGeom prst="roundRect">
            <a:avLst>
              <a:gd name="adj" fmla="val 8000"/>
            </a:avLst>
          </a:prstGeom>
          <a:solidFill>
            <a:srgbClr val="E2F7E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82512" y="2212848"/>
            <a:ext cx="73152" cy="2743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2157984"/>
            <a:ext cx="4864608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8273C"/>
                </a:solidFill>
                <a:latin typeface="Microsoft YaHei"/>
              </a:rPr>
              <a:t>光伏爆发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542032"/>
            <a:ext cx="5029200" cy="393191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C6C7F"/>
                </a:solidFill>
                <a:latin typeface="Microsoft YaHei"/>
              </a:rPr>
              <a:t>装机 661 万千瓦，占新能源 82% 以上；工商业分布式占比 84.9%。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310128"/>
            <a:ext cx="5394960" cy="1051560"/>
          </a:xfrm>
          <a:prstGeom prst="roundRect">
            <a:avLst>
              <a:gd name="adj" fmla="val 8000"/>
            </a:avLst>
          </a:prstGeom>
          <a:solidFill>
            <a:srgbClr val="E8EFFD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82512" y="3511296"/>
            <a:ext cx="73152" cy="27432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3456432"/>
            <a:ext cx="4864608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8273C"/>
                </a:solidFill>
                <a:latin typeface="Microsoft YaHei"/>
              </a:rPr>
              <a:t>绿电先锋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840480"/>
            <a:ext cx="5029200" cy="393191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C6C7F"/>
                </a:solidFill>
                <a:latin typeface="Microsoft YaHei"/>
              </a:rPr>
              <a:t>率先成立“一站一中心”；2024 年绿电交易 17.4 亿 kWh，占全省 15%。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4608576"/>
            <a:ext cx="5394960" cy="1051560"/>
          </a:xfrm>
          <a:prstGeom prst="roundRect">
            <a:avLst>
              <a:gd name="adj" fmla="val 8000"/>
            </a:avLst>
          </a:prstGeom>
          <a:solidFill>
            <a:srgbClr val="FFF5DB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82512" y="4809744"/>
            <a:ext cx="73152" cy="27432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4754880"/>
            <a:ext cx="4864608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8273C"/>
                </a:solidFill>
                <a:latin typeface="Microsoft YaHei"/>
              </a:rPr>
              <a:t>装备高地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5138928"/>
            <a:ext cx="5029200" cy="393191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C6C7F"/>
                </a:solidFill>
                <a:latin typeface="Microsoft YaHei"/>
              </a:rPr>
              <a:t>规上产值超 2300 亿元，光储氢风母机龙头集聚。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62179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C6C7F"/>
                </a:solidFill>
                <a:latin typeface="Microsoft YaHei"/>
              </a:rPr>
              <a:t>十五五 · 无锡能源发展规划研究思路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88136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0A192F"/>
                </a:solidFill>
                <a:latin typeface="Microsoft YaHei"/>
              </a:rPr>
              <a:t>一、发展现状——瓶颈与短板剖析（问题导向）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493776" cy="54864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28232"/>
            <a:ext cx="50292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C6C7F"/>
                </a:solidFill>
                <a:latin typeface="Microsoft YaHei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508760"/>
            <a:ext cx="1078992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A192F"/>
                </a:solidFill>
                <a:latin typeface="Microsoft YaHei"/>
              </a:rPr>
              <a:t>当前矛盾不在“有没有项目”，而在“安全、空间、绿色与调节”能否同时成立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48840"/>
            <a:ext cx="5212080" cy="1298448"/>
          </a:xfrm>
          <a:prstGeom prst="roundRect">
            <a:avLst>
              <a:gd name="adj" fmla="val 8000"/>
            </a:avLst>
          </a:prstGeom>
          <a:solidFill>
            <a:srgbClr val="FEECEB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8952" y="2350008"/>
            <a:ext cx="73152" cy="274320"/>
          </a:xfrm>
          <a:prstGeom prst="rect">
            <a:avLst/>
          </a:prstGeom>
          <a:solidFill>
            <a:srgbClr val="DC4C46"/>
          </a:solidFill>
          <a:ln>
            <a:solidFill>
              <a:srgbClr val="DC4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295144"/>
            <a:ext cx="4681728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8273C"/>
                </a:solidFill>
                <a:latin typeface="Microsoft YaHei"/>
              </a:rPr>
              <a:t>对外依存极高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79192"/>
            <a:ext cx="4846320" cy="6400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C6C7F"/>
                </a:solidFill>
                <a:latin typeface="Microsoft YaHei"/>
              </a:rPr>
              <a:t>一次能源自给率不足 5%；外电依赖度超 20%；天然气环网尚未完全闭环。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2313432"/>
            <a:ext cx="50292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400" b="1" i="0">
                <a:solidFill>
                  <a:srgbClr val="DC4C46"/>
                </a:solidFill>
                <a:latin typeface="Microsoft YaHei"/>
              </a:rPr>
              <a:t>01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2148840"/>
            <a:ext cx="5212080" cy="1298448"/>
          </a:xfrm>
          <a:prstGeom prst="roundRect">
            <a:avLst>
              <a:gd name="adj" fmla="val 8000"/>
            </a:avLst>
          </a:prstGeom>
          <a:solidFill>
            <a:srgbClr val="FFF5DB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350008"/>
            <a:ext cx="73152" cy="27432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2295144"/>
            <a:ext cx="4681728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8273C"/>
                </a:solidFill>
                <a:latin typeface="Microsoft YaHei"/>
              </a:rPr>
              <a:t>空间逼近极限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679192"/>
            <a:ext cx="4846320" cy="6400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C6C7F"/>
                </a:solidFill>
                <a:latin typeface="Microsoft YaHei"/>
              </a:rPr>
              <a:t>生态红线严苛；优质屋顶资源开发殆尽；集中式风光无地可拓。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2313432"/>
            <a:ext cx="50292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400" b="1" i="0">
                <a:solidFill>
                  <a:srgbClr val="F59E0B"/>
                </a:solidFill>
                <a:latin typeface="Microsoft YaHei"/>
              </a:rPr>
              <a:t>02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840480"/>
            <a:ext cx="5212080" cy="1298448"/>
          </a:xfrm>
          <a:prstGeom prst="roundRect">
            <a:avLst>
              <a:gd name="adj" fmla="val 8000"/>
            </a:avLst>
          </a:prstGeom>
          <a:solidFill>
            <a:srgbClr val="E8EFFD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58952" y="4041648"/>
            <a:ext cx="73152" cy="27432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986784"/>
            <a:ext cx="4681728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8273C"/>
                </a:solidFill>
                <a:latin typeface="Microsoft YaHei"/>
              </a:rPr>
              <a:t>绿色剪刀差扩大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370832"/>
            <a:ext cx="4846320" cy="6400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C6C7F"/>
                </a:solidFill>
                <a:latin typeface="Microsoft YaHei"/>
              </a:rPr>
              <a:t>非化石消费占比约 11.7%，距 26% 目标差距大；CBAM 倒逼绿电出海。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4005072"/>
            <a:ext cx="50292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400" b="1" i="0">
                <a:solidFill>
                  <a:srgbClr val="1E3A8A"/>
                </a:solidFill>
                <a:latin typeface="Microsoft YaHei"/>
              </a:rPr>
              <a:t>03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3840480"/>
            <a:ext cx="5212080" cy="1298448"/>
          </a:xfrm>
          <a:prstGeom prst="roundRect">
            <a:avLst>
              <a:gd name="adj" fmla="val 8000"/>
            </a:avLst>
          </a:prstGeom>
          <a:solidFill>
            <a:srgbClr val="E2F7E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36792" y="4041648"/>
            <a:ext cx="73152" cy="274320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3986784"/>
            <a:ext cx="4681728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8273C"/>
                </a:solidFill>
                <a:latin typeface="Microsoft YaHei"/>
              </a:rPr>
              <a:t>调节资源与配网滞后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4370832"/>
            <a:ext cx="4846320" cy="6400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C6C7F"/>
                </a:solidFill>
                <a:latin typeface="Microsoft YaHei"/>
              </a:rPr>
              <a:t>新型储能仅 16.4 万千瓦；分布式光伏带来台区反向过载。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0" y="4005072"/>
            <a:ext cx="50292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400" b="1" i="0">
                <a:solidFill>
                  <a:srgbClr val="059669"/>
                </a:solidFill>
                <a:latin typeface="Microsoft YaHei"/>
              </a:rPr>
              <a:t>04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" y="5715000"/>
            <a:ext cx="10972800" cy="475488"/>
          </a:xfrm>
          <a:prstGeom prst="roundRect">
            <a:avLst>
              <a:gd name="adj" fmla="val 8000"/>
            </a:avLst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5815584"/>
            <a:ext cx="1042416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结论  /  无锡必须用“跨区资源 + 城市级调节 + 产业协同”换取本地绿色增量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62179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C6C7F"/>
                </a:solidFill>
                <a:latin typeface="Microsoft YaHei"/>
              </a:rPr>
              <a:t>十五五 · 无锡能源发展规划研究思路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88136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0A192F"/>
                </a:solidFill>
                <a:latin typeface="Microsoft YaHei"/>
              </a:rPr>
              <a:t>二、形势特征——机遇与挑战研判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493776" cy="54864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28232"/>
            <a:ext cx="50292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C6C7F"/>
                </a:solidFill>
                <a:latin typeface="Microsoft YaHei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08760"/>
            <a:ext cx="5394960" cy="4526280"/>
          </a:xfrm>
          <a:prstGeom prst="roundRect">
            <a:avLst>
              <a:gd name="adj" fmla="val 8000"/>
            </a:avLst>
          </a:prstGeom>
          <a:solidFill>
            <a:srgbClr val="E2F7EF"/>
          </a:solidFill>
          <a:ln>
            <a:solidFill>
              <a:srgbClr val="E2F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0" y="1508760"/>
            <a:ext cx="5394960" cy="4526280"/>
          </a:xfrm>
          <a:prstGeom prst="roundRect">
            <a:avLst>
              <a:gd name="adj" fmla="val 8000"/>
            </a:avLst>
          </a:prstGeom>
          <a:solidFill>
            <a:srgbClr val="FEECEB"/>
          </a:solidFill>
          <a:ln>
            <a:solidFill>
              <a:srgbClr val="FEE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10512"/>
            <a:ext cx="182880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059669"/>
                </a:solidFill>
                <a:latin typeface="Microsoft YaHei"/>
              </a:rPr>
              <a:t>战略机遇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1874519"/>
            <a:ext cx="109728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059669"/>
                </a:solidFill>
                <a:latin typeface="Microsoft YaHei"/>
              </a:rPr>
              <a:t>REAL OPTIONS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810512"/>
            <a:ext cx="182880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DC4C46"/>
                </a:solidFill>
                <a:latin typeface="Microsoft YaHei"/>
              </a:rPr>
              <a:t>现实挑战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1874519"/>
            <a:ext cx="9144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DC4C46"/>
                </a:solidFill>
                <a:latin typeface="Microsoft YaHei"/>
              </a:rPr>
              <a:t>HARD CONSTRAINTS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" y="2395728"/>
            <a:ext cx="4800600" cy="7680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05840" y="2560320"/>
            <a:ext cx="310896" cy="310896"/>
          </a:xfrm>
          <a:prstGeom prst="ellipse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2569464"/>
            <a:ext cx="310896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2542032"/>
            <a:ext cx="4059936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8273C"/>
                </a:solidFill>
                <a:latin typeface="Microsoft YaHei"/>
              </a:rPr>
              <a:t>制度变革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" y="2926080"/>
            <a:ext cx="4434840" cy="1097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C6C7F"/>
                </a:solidFill>
                <a:latin typeface="Microsoft YaHei"/>
              </a:rPr>
              <a:t>双控转双碳，原料与绿电不计入总量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" y="3429000"/>
            <a:ext cx="4800600" cy="7680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5840" y="3593592"/>
            <a:ext cx="310896" cy="310896"/>
          </a:xfrm>
          <a:prstGeom prst="ellipse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3602736"/>
            <a:ext cx="310896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3575304"/>
            <a:ext cx="4059936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8273C"/>
                </a:solidFill>
                <a:latin typeface="Microsoft YaHei"/>
              </a:rPr>
              <a:t>大通道落地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" y="3959352"/>
            <a:ext cx="4434840" cy="1097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C6C7F"/>
                </a:solidFill>
                <a:latin typeface="Microsoft YaHei"/>
              </a:rPr>
              <a:t>凤城—梅里、锦苏直流、白鹤滩入苏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" y="4462272"/>
            <a:ext cx="4800600" cy="7680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05840" y="4626864"/>
            <a:ext cx="310896" cy="310896"/>
          </a:xfrm>
          <a:prstGeom prst="ellipse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4636008"/>
            <a:ext cx="310896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4608576"/>
            <a:ext cx="4059936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8273C"/>
                </a:solidFill>
                <a:latin typeface="Microsoft YaHei"/>
              </a:rPr>
              <a:t>数智赋能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" y="4992624"/>
            <a:ext cx="4434840" cy="1097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C6C7F"/>
                </a:solidFill>
                <a:latin typeface="Microsoft YaHei"/>
              </a:rPr>
              <a:t>物联网底座驱动 VPP 与现货辅助服务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10528" y="2395728"/>
            <a:ext cx="480060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675120" y="2560320"/>
            <a:ext cx="310896" cy="310896"/>
          </a:xfrm>
          <a:prstGeom prst="ellipse">
            <a:avLst/>
          </a:prstGeom>
          <a:solidFill>
            <a:srgbClr val="DC4C46"/>
          </a:solidFill>
          <a:ln>
            <a:solidFill>
              <a:srgbClr val="DC4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0" y="2569464"/>
            <a:ext cx="310896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86600" y="2542032"/>
            <a:ext cx="4059936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8273C"/>
                </a:solidFill>
                <a:latin typeface="Microsoft YaHei"/>
              </a:rPr>
              <a:t>保供与降碳平衡难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93408" y="2926080"/>
            <a:ext cx="4434840" cy="-36575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C6C7F"/>
                </a:solidFill>
                <a:latin typeface="Microsoft YaHei"/>
              </a:rPr>
              <a:t>尖峰负荷将破 1800 万千瓦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10528" y="3227832"/>
            <a:ext cx="480060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675120" y="3392424"/>
            <a:ext cx="310896" cy="310896"/>
          </a:xfrm>
          <a:prstGeom prst="ellipse">
            <a:avLst/>
          </a:prstGeom>
          <a:solidFill>
            <a:srgbClr val="DC4C46"/>
          </a:solidFill>
          <a:ln>
            <a:solidFill>
              <a:srgbClr val="DC4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5120" y="3401568"/>
            <a:ext cx="310896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86600" y="3374136"/>
            <a:ext cx="4059936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8273C"/>
                </a:solidFill>
                <a:latin typeface="Microsoft YaHei"/>
              </a:rPr>
              <a:t>传统高载能改造重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93408" y="3758184"/>
            <a:ext cx="4434840" cy="-36575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C6C7F"/>
                </a:solidFill>
                <a:latin typeface="Microsoft YaHei"/>
              </a:rPr>
              <a:t>特钢、石化流程再造周期长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10528" y="4059936"/>
            <a:ext cx="480060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675120" y="4224528"/>
            <a:ext cx="310896" cy="310896"/>
          </a:xfrm>
          <a:prstGeom prst="ellipse">
            <a:avLst/>
          </a:prstGeom>
          <a:solidFill>
            <a:srgbClr val="DC4C46"/>
          </a:solidFill>
          <a:ln>
            <a:solidFill>
              <a:srgbClr val="DC4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75120" y="4233672"/>
            <a:ext cx="310896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86600" y="4206240"/>
            <a:ext cx="4059936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8273C"/>
                </a:solidFill>
                <a:latin typeface="Microsoft YaHei"/>
              </a:rPr>
              <a:t>装备强与应用弱脱节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93408" y="4590288"/>
            <a:ext cx="4434840" cy="-36575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C6C7F"/>
                </a:solidFill>
                <a:latin typeface="Microsoft YaHei"/>
              </a:rPr>
              <a:t>本地缺乏集中式承载大场景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10528" y="4892040"/>
            <a:ext cx="480060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675120" y="5056631"/>
            <a:ext cx="310896" cy="310896"/>
          </a:xfrm>
          <a:prstGeom prst="ellipse">
            <a:avLst/>
          </a:prstGeom>
          <a:solidFill>
            <a:srgbClr val="DC4C46"/>
          </a:solidFill>
          <a:ln>
            <a:solidFill>
              <a:srgbClr val="DC4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75120" y="5065776"/>
            <a:ext cx="310896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86600" y="5038344"/>
            <a:ext cx="4059936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8273C"/>
                </a:solidFill>
                <a:latin typeface="Microsoft YaHei"/>
              </a:rPr>
              <a:t>高品质电能诉求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93408" y="5422392"/>
            <a:ext cx="4434840" cy="-36575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C6C7F"/>
                </a:solidFill>
                <a:latin typeface="Microsoft YaHei"/>
              </a:rPr>
              <a:t>半导体产线要求微秒级零闪动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62179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C6C7F"/>
                </a:solidFill>
                <a:latin typeface="Microsoft YaHei"/>
              </a:rPr>
              <a:t>十五五 · 无锡能源发展规划研究思路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88136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0A192F"/>
                </a:solidFill>
                <a:latin typeface="Microsoft YaHei"/>
              </a:rPr>
              <a:t>三、总体要求——指导思想与战略方针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493776" cy="54864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28232"/>
            <a:ext cx="50292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C6C7F"/>
                </a:solidFill>
                <a:latin typeface="Microsoft YaHei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08760"/>
            <a:ext cx="11064240" cy="1143000"/>
          </a:xfrm>
          <a:prstGeom prst="roundRect">
            <a:avLst>
              <a:gd name="adj" fmla="val 8000"/>
            </a:avLst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10607040" cy="42062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Microsoft YaHei"/>
              </a:rPr>
              <a:t>控煤稳盘  ·  强网扩电  ·  战略引绿  ·  提质增效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627632"/>
            <a:ext cx="9144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90ABC9"/>
                </a:solidFill>
                <a:latin typeface="Microsoft YaHei"/>
              </a:rPr>
              <a:t>16 字方针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71800"/>
            <a:ext cx="1078992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8273C"/>
                </a:solidFill>
                <a:latin typeface="Microsoft YaHei"/>
              </a:rPr>
              <a:t>指导思想  /  以安全韧性为底线、以绿色低碳为方向、以数智协同为手段，将能源体系打造为先进制造业的竞争性底座。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749039"/>
            <a:ext cx="2514600" cy="1600200"/>
          </a:xfrm>
          <a:prstGeom prst="roundRect">
            <a:avLst>
              <a:gd name="adj" fmla="val 8000"/>
            </a:avLst>
          </a:prstGeom>
          <a:solidFill>
            <a:srgbClr val="E8EFFD"/>
          </a:solidFill>
          <a:ln>
            <a:solidFill>
              <a:srgbClr val="E8EF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3749039"/>
            <a:ext cx="64008" cy="160020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886200"/>
            <a:ext cx="219456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8273C"/>
                </a:solidFill>
                <a:latin typeface="Microsoft YaHei"/>
              </a:rPr>
              <a:t>先立后破，安全兜底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224527"/>
            <a:ext cx="2194560" cy="1014983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C6C7F"/>
                </a:solidFill>
                <a:latin typeface="Microsoft YaHei"/>
              </a:rPr>
              <a:t>煤电向支撑调节电源转变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92424" y="3749039"/>
            <a:ext cx="2514600" cy="1600200"/>
          </a:xfrm>
          <a:prstGeom prst="roundRect">
            <a:avLst>
              <a:gd name="adj" fmla="val 8000"/>
            </a:avLst>
          </a:prstGeom>
          <a:solidFill>
            <a:srgbClr val="E2F7EF"/>
          </a:solidFill>
          <a:ln>
            <a:solidFill>
              <a:srgbClr val="E2F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92424" y="3749039"/>
            <a:ext cx="64008" cy="16002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75304" y="3886200"/>
            <a:ext cx="219456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8273C"/>
                </a:solidFill>
                <a:latin typeface="Microsoft YaHei"/>
              </a:rPr>
              <a:t>内生外引，源网协同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75304" y="4224527"/>
            <a:ext cx="2194560" cy="1014983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C6C7F"/>
                </a:solidFill>
                <a:latin typeface="Microsoft YaHei"/>
              </a:rPr>
              <a:t>市域极限挖潜，跨省区引绿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0488" y="3749039"/>
            <a:ext cx="2514600" cy="1600200"/>
          </a:xfrm>
          <a:prstGeom prst="roundRect">
            <a:avLst>
              <a:gd name="adj" fmla="val 8000"/>
            </a:avLst>
          </a:prstGeom>
          <a:solidFill>
            <a:srgbClr val="FFF5DB"/>
          </a:solidFill>
          <a:ln>
            <a:solidFill>
              <a:srgbClr val="FFF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90488" y="3749039"/>
            <a:ext cx="64008" cy="160020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3886200"/>
            <a:ext cx="219456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8273C"/>
                </a:solidFill>
                <a:latin typeface="Microsoft YaHei"/>
              </a:rPr>
              <a:t>产用联动，创新驱动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224527"/>
            <a:ext cx="2194560" cy="1014983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C6C7F"/>
                </a:solidFill>
                <a:latin typeface="Microsoft YaHei"/>
              </a:rPr>
              <a:t>场景换装备，装备促场景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8552" y="3749039"/>
            <a:ext cx="2514600" cy="1600200"/>
          </a:xfrm>
          <a:prstGeom prst="roundRect">
            <a:avLst>
              <a:gd name="adj" fmla="val 8000"/>
            </a:avLst>
          </a:prstGeom>
          <a:solidFill>
            <a:srgbClr val="E2F7EF"/>
          </a:solidFill>
          <a:ln>
            <a:solidFill>
              <a:srgbClr val="E2F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8552" y="3749039"/>
            <a:ext cx="64008" cy="1600200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71432" y="3886200"/>
            <a:ext cx="219456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8273C"/>
                </a:solidFill>
                <a:latin typeface="Microsoft YaHei"/>
              </a:rPr>
              <a:t>深化改革，市场主导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71432" y="4224527"/>
            <a:ext cx="2194560" cy="1014983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C6C7F"/>
                </a:solidFill>
                <a:latin typeface="Microsoft YaHei"/>
              </a:rPr>
              <a:t>现货、绿证、碳预算协同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703320" y="5715000"/>
            <a:ext cx="4800600" cy="256032"/>
          </a:xfrm>
          <a:prstGeom prst="roundRect">
            <a:avLst>
              <a:gd name="adj" fmla="val 8000"/>
            </a:avLst>
          </a:prstGeom>
          <a:solidFill>
            <a:srgbClr val="E8EFFD"/>
          </a:solidFill>
          <a:ln>
            <a:solidFill>
              <a:srgbClr val="E8EF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03320" y="5724144"/>
            <a:ext cx="480060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1E3A8A"/>
                </a:solidFill>
                <a:latin typeface="Microsoft YaHei"/>
              </a:rPr>
              <a:t>从资源约束出发，以系统性解决方案换取发展空间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62179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C6C7F"/>
                </a:solidFill>
                <a:latin typeface="Microsoft YaHei"/>
              </a:rPr>
              <a:t>十五五 · 无锡能源发展规划研究思路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88136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0A192F"/>
                </a:solidFill>
                <a:latin typeface="Microsoft YaHei"/>
              </a:rPr>
              <a:t>三、总体要求——2030 年主要发展指标看板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493776" cy="54864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28232"/>
            <a:ext cx="50292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C6C7F"/>
                </a:solidFill>
                <a:latin typeface="Microsoft YaHei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481328"/>
            <a:ext cx="2578608" cy="4526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" y="1481328"/>
            <a:ext cx="2578608" cy="54864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" y="1618488"/>
            <a:ext cx="22860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Microsoft YaHei"/>
              </a:rPr>
              <a:t>安全保供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" y="2240280"/>
            <a:ext cx="2267712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5C6C7F"/>
                </a:solidFill>
                <a:latin typeface="Microsoft YaHei"/>
              </a:rPr>
              <a:t>煤炭消费总量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2560320"/>
            <a:ext cx="2267712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8273C"/>
                </a:solidFill>
                <a:latin typeface="Microsoft YaHei"/>
              </a:rPr>
              <a:t>2473 万吨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2871216"/>
            <a:ext cx="2267712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E3A8A"/>
                </a:solidFill>
                <a:latin typeface="Microsoft YaHei"/>
              </a:rPr>
              <a:t>→  ≤ 2400 万吨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656" y="3300984"/>
            <a:ext cx="2267712" cy="9144"/>
          </a:xfrm>
          <a:prstGeom prst="rect">
            <a:avLst/>
          </a:prstGeom>
          <a:solidFill>
            <a:srgbClr val="DAE1EA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3502152"/>
            <a:ext cx="2267712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5C6C7F"/>
                </a:solidFill>
                <a:latin typeface="Microsoft YaHei"/>
              </a:rPr>
              <a:t>最高用电负荷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" y="3822191"/>
            <a:ext cx="2267712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8273C"/>
                </a:solidFill>
                <a:latin typeface="Microsoft YaHei"/>
              </a:rPr>
              <a:t>1451.7 万千瓦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4133087"/>
            <a:ext cx="2267712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E3A8A"/>
                </a:solidFill>
                <a:latin typeface="Microsoft YaHei"/>
              </a:rPr>
              <a:t>→  1800 万千瓦左右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" y="4562856"/>
            <a:ext cx="2267712" cy="9144"/>
          </a:xfrm>
          <a:prstGeom prst="rect">
            <a:avLst/>
          </a:prstGeom>
          <a:solidFill>
            <a:srgbClr val="DAE1EA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364992" y="1481328"/>
            <a:ext cx="2578608" cy="4526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64992" y="1481328"/>
            <a:ext cx="2578608" cy="5486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11296" y="1618488"/>
            <a:ext cx="22860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Microsoft YaHei"/>
              </a:rPr>
              <a:t>清洁低碳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11296" y="2240280"/>
            <a:ext cx="2267712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5C6C7F"/>
                </a:solidFill>
                <a:latin typeface="Microsoft YaHei"/>
              </a:rPr>
              <a:t>非化石消费比重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11296" y="2560320"/>
            <a:ext cx="2267712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8273C"/>
                </a:solidFill>
                <a:latin typeface="Microsoft YaHei"/>
              </a:rPr>
              <a:t>约 11.7%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11296" y="2871216"/>
            <a:ext cx="2267712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0B981"/>
                </a:solidFill>
                <a:latin typeface="Microsoft YaHei"/>
              </a:rPr>
              <a:t>→  26% 左右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11296" y="3300984"/>
            <a:ext cx="2267712" cy="9144"/>
          </a:xfrm>
          <a:prstGeom prst="rect">
            <a:avLst/>
          </a:prstGeom>
          <a:solidFill>
            <a:srgbClr val="DAE1EA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11296" y="3502152"/>
            <a:ext cx="2267712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5C6C7F"/>
                </a:solidFill>
                <a:latin typeface="Microsoft YaHei"/>
              </a:rPr>
              <a:t>可再生能源装机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11296" y="3822191"/>
            <a:ext cx="2267712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8273C"/>
                </a:solidFill>
                <a:latin typeface="Microsoft YaHei"/>
              </a:rPr>
              <a:t>802.8 万千瓦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11296" y="4133087"/>
            <a:ext cx="2267712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0B981"/>
                </a:solidFill>
                <a:latin typeface="Microsoft YaHei"/>
              </a:rPr>
              <a:t>→  1200 万千瓦左右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511296" y="4562856"/>
            <a:ext cx="2267712" cy="9144"/>
          </a:xfrm>
          <a:prstGeom prst="rect">
            <a:avLst/>
          </a:prstGeom>
          <a:solidFill>
            <a:srgbClr val="DAE1EA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11296" y="4764024"/>
            <a:ext cx="2267712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5C6C7F"/>
                </a:solidFill>
                <a:latin typeface="Microsoft YaHei"/>
              </a:rPr>
              <a:t>区外清洁绿电占比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11296" y="5084064"/>
            <a:ext cx="2267712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8273C"/>
                </a:solidFill>
                <a:latin typeface="Microsoft YaHei"/>
              </a:rPr>
              <a:t>约 40%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11296" y="5394960"/>
            <a:ext cx="2267712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0B981"/>
                </a:solidFill>
                <a:latin typeface="Microsoft YaHei"/>
              </a:rPr>
              <a:t>→  突破 60%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511296" y="5824728"/>
            <a:ext cx="2267712" cy="9144"/>
          </a:xfrm>
          <a:prstGeom prst="rect">
            <a:avLst/>
          </a:prstGeom>
          <a:solidFill>
            <a:srgbClr val="DAE1EA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199632" y="1481328"/>
            <a:ext cx="2578608" cy="4526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99632" y="1481328"/>
            <a:ext cx="2578608" cy="54864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45936" y="1618488"/>
            <a:ext cx="22860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Microsoft YaHei"/>
              </a:rPr>
              <a:t>系统调节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45936" y="2240280"/>
            <a:ext cx="2267712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5C6C7F"/>
                </a:solidFill>
                <a:latin typeface="Microsoft YaHei"/>
              </a:rPr>
              <a:t>新型储能规模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45936" y="2560320"/>
            <a:ext cx="2267712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8273C"/>
                </a:solidFill>
                <a:latin typeface="Microsoft YaHei"/>
              </a:rPr>
              <a:t>16.4 万 kW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45936" y="2871216"/>
            <a:ext cx="2267712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59E0B"/>
                </a:solidFill>
                <a:latin typeface="Microsoft YaHei"/>
              </a:rPr>
              <a:t>→  100 万 kW / 200 万 kWh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45936" y="3300984"/>
            <a:ext cx="2267712" cy="9144"/>
          </a:xfrm>
          <a:prstGeom prst="rect">
            <a:avLst/>
          </a:prstGeom>
          <a:solidFill>
            <a:srgbClr val="DAE1EA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45936" y="3502152"/>
            <a:ext cx="2267712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5C6C7F"/>
                </a:solidFill>
                <a:latin typeface="Microsoft YaHei"/>
              </a:rPr>
              <a:t>VPP / 需求响应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45936" y="3822191"/>
            <a:ext cx="2267712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8273C"/>
                </a:solidFill>
                <a:latin typeface="Microsoft YaHei"/>
              </a:rPr>
              <a:t>基础试点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45936" y="4133087"/>
            <a:ext cx="2267712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59E0B"/>
                </a:solidFill>
                <a:latin typeface="Microsoft YaHei"/>
              </a:rPr>
              <a:t>→  ≥ 最高负荷 5%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45936" y="4562856"/>
            <a:ext cx="2267712" cy="9144"/>
          </a:xfrm>
          <a:prstGeom prst="rect">
            <a:avLst/>
          </a:prstGeom>
          <a:solidFill>
            <a:srgbClr val="DAE1EA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45936" y="4764024"/>
            <a:ext cx="2267712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5C6C7F"/>
                </a:solidFill>
                <a:latin typeface="Microsoft YaHei"/>
              </a:rPr>
              <a:t>敏感用电可靠率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45936" y="5084064"/>
            <a:ext cx="2267712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8273C"/>
                </a:solidFill>
                <a:latin typeface="Microsoft YaHei"/>
              </a:rPr>
              <a:t>99.99%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45936" y="5394960"/>
            <a:ext cx="2267712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59E0B"/>
                </a:solidFill>
                <a:latin typeface="Microsoft YaHei"/>
              </a:rPr>
              <a:t>→  99.999%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45936" y="5824728"/>
            <a:ext cx="2267712" cy="9144"/>
          </a:xfrm>
          <a:prstGeom prst="rect">
            <a:avLst/>
          </a:prstGeom>
          <a:solidFill>
            <a:srgbClr val="DAE1EA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9034272" y="1481328"/>
            <a:ext cx="2578608" cy="4526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034272" y="1481328"/>
            <a:ext cx="2578608" cy="548640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180576" y="1618488"/>
            <a:ext cx="22860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Microsoft YaHei"/>
              </a:rPr>
              <a:t>产业节能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80576" y="2240280"/>
            <a:ext cx="2267712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5C6C7F"/>
                </a:solidFill>
                <a:latin typeface="Microsoft YaHei"/>
              </a:rPr>
              <a:t>单位 GDP 能耗降幅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80576" y="2560320"/>
            <a:ext cx="2267712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8273C"/>
                </a:solidFill>
                <a:latin typeface="Microsoft YaHei"/>
              </a:rPr>
              <a:t>累计降 22.9%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80576" y="2871216"/>
            <a:ext cx="2267712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59669"/>
                </a:solidFill>
                <a:latin typeface="Microsoft YaHei"/>
              </a:rPr>
              <a:t>→  完成省下达目标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180576" y="3300984"/>
            <a:ext cx="2267712" cy="9144"/>
          </a:xfrm>
          <a:prstGeom prst="rect">
            <a:avLst/>
          </a:prstGeom>
          <a:solidFill>
            <a:srgbClr val="DAE1EA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180576" y="3502152"/>
            <a:ext cx="2267712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5C6C7F"/>
                </a:solidFill>
                <a:latin typeface="Microsoft YaHei"/>
              </a:rPr>
              <a:t>新能源装备产业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80576" y="3822191"/>
            <a:ext cx="2267712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8273C"/>
                </a:solidFill>
                <a:latin typeface="Microsoft YaHei"/>
              </a:rPr>
              <a:t>约 3500 亿元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80576" y="4133087"/>
            <a:ext cx="2267712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59669"/>
                </a:solidFill>
                <a:latin typeface="Microsoft YaHei"/>
              </a:rPr>
              <a:t>→  突破 5500 亿元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180576" y="4562856"/>
            <a:ext cx="2267712" cy="9144"/>
          </a:xfrm>
          <a:prstGeom prst="rect">
            <a:avLst/>
          </a:prstGeom>
          <a:solidFill>
            <a:srgbClr val="DAE1EA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97280" y="6199632"/>
            <a:ext cx="987552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C6C7F"/>
                </a:solidFill>
                <a:latin typeface="Microsoft YaHei"/>
              </a:rPr>
              <a:t>约束性指标优先保障底线，预期性指标强化导向，形成“目标—工程—考核”闭环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62179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C6C7F"/>
                </a:solidFill>
                <a:latin typeface="Microsoft YaHei"/>
              </a:rPr>
              <a:t>十五五 · 无锡能源发展规划研究思路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88136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0A192F"/>
                </a:solidFill>
                <a:latin typeface="Microsoft YaHei"/>
              </a:rPr>
              <a:t>四、重点任务（一）——构建坚实可靠的能源保障体系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493776" cy="54864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28232"/>
            <a:ext cx="50292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C6C7F"/>
                </a:solidFill>
                <a:latin typeface="Microsoft YaHei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508760"/>
            <a:ext cx="18288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A192F"/>
                </a:solidFill>
                <a:latin typeface="Microsoft YaHei"/>
              </a:rPr>
              <a:t>三大防线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965960"/>
            <a:ext cx="6400800" cy="896112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58952" y="2130552"/>
            <a:ext cx="310896" cy="310896"/>
          </a:xfrm>
          <a:prstGeom prst="ellipse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2139696"/>
            <a:ext cx="310896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" y="2112264"/>
            <a:ext cx="5660136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8273C"/>
                </a:solidFill>
                <a:latin typeface="Microsoft YaHei"/>
              </a:rPr>
              <a:t>煤电机组“三改联动”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496312"/>
            <a:ext cx="6035040" cy="23774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C6C7F"/>
                </a:solidFill>
                <a:latin typeface="Microsoft YaHei"/>
              </a:rPr>
              <a:t>600 万千瓦现役机组灵活性改造；最小稳燃负荷降至 20%—30%；探索掺氨与 CCUS。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108960"/>
            <a:ext cx="6400800" cy="896112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58952" y="3273552"/>
            <a:ext cx="310896" cy="310896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" y="3282696"/>
            <a:ext cx="310896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432" y="3255264"/>
            <a:ext cx="5660136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8273C"/>
                </a:solidFill>
                <a:latin typeface="Microsoft YaHei"/>
              </a:rPr>
              <a:t>天然气顶峰与环网联通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639312"/>
            <a:ext cx="6035040" cy="23774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C6C7F"/>
                </a:solidFill>
                <a:latin typeface="Microsoft YaHei"/>
              </a:rPr>
              <a:t>扩建江阴、宜兴调峰燃机，新增气电 160 万千瓦；高压管网全闭环。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4251960"/>
            <a:ext cx="6400800" cy="896112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58952" y="4416552"/>
            <a:ext cx="310896" cy="310896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952" y="4425696"/>
            <a:ext cx="310896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70432" y="4398264"/>
            <a:ext cx="5660136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8273C"/>
                </a:solidFill>
                <a:latin typeface="Microsoft YaHei"/>
              </a:rPr>
              <a:t>油品供应与江阴储运极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782312"/>
            <a:ext cx="6035040" cy="23774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C6C7F"/>
                </a:solidFill>
                <a:latin typeface="Microsoft YaHei"/>
              </a:rPr>
              <a:t>严控新增炼化；推进综合加能站；打造长江下游低碳液体燃料枢纽。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60920" y="1508760"/>
            <a:ext cx="4251960" cy="4434840"/>
          </a:xfrm>
          <a:prstGeom prst="roundRect">
            <a:avLst>
              <a:gd name="adj" fmla="val 8000"/>
            </a:avLst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0" y="1828800"/>
            <a:ext cx="3200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9AB5D3"/>
                </a:solidFill>
                <a:latin typeface="Microsoft YaHei"/>
              </a:rPr>
              <a:t>专栏 1  ·  重点工程</a:t>
            </a:r>
          </a:p>
        </p:txBody>
      </p:sp>
      <p:sp>
        <p:nvSpPr>
          <p:cNvPr id="25" name="Oval 24"/>
          <p:cNvSpPr/>
          <p:nvPr/>
        </p:nvSpPr>
        <p:spPr>
          <a:xfrm>
            <a:off x="7726679" y="2487168"/>
            <a:ext cx="173736" cy="173736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92440" y="2404872"/>
            <a:ext cx="306324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icrosoft YaHei"/>
              </a:rPr>
              <a:t>利港电厂扩建与改造</a:t>
            </a:r>
          </a:p>
        </p:txBody>
      </p:sp>
      <p:sp>
        <p:nvSpPr>
          <p:cNvPr id="27" name="Oval 26"/>
          <p:cNvSpPr/>
          <p:nvPr/>
        </p:nvSpPr>
        <p:spPr>
          <a:xfrm>
            <a:off x="7726679" y="3127248"/>
            <a:ext cx="173736" cy="173736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92440" y="3044952"/>
            <a:ext cx="306324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icrosoft YaHei"/>
              </a:rPr>
              <a:t>嘉盛 LNG 调峰储配站</a:t>
            </a:r>
          </a:p>
        </p:txBody>
      </p:sp>
      <p:sp>
        <p:nvSpPr>
          <p:cNvPr id="29" name="Oval 28"/>
          <p:cNvSpPr/>
          <p:nvPr/>
        </p:nvSpPr>
        <p:spPr>
          <a:xfrm>
            <a:off x="7726679" y="3767328"/>
            <a:ext cx="173736" cy="173736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92440" y="3685031"/>
            <a:ext cx="306324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16 万 m³ 储罐</a:t>
            </a:r>
          </a:p>
        </p:txBody>
      </p:sp>
      <p:sp>
        <p:nvSpPr>
          <p:cNvPr id="31" name="Oval 30"/>
          <p:cNvSpPr/>
          <p:nvPr/>
        </p:nvSpPr>
        <p:spPr>
          <a:xfrm>
            <a:off x="7726679" y="4407408"/>
            <a:ext cx="173736" cy="173736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92440" y="4325112"/>
            <a:ext cx="306324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icrosoft YaHei"/>
              </a:rPr>
              <a:t>天然气高压“一张网”闭环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680960" y="5166360"/>
            <a:ext cx="3246120" cy="256032"/>
          </a:xfrm>
          <a:prstGeom prst="roundRect">
            <a:avLst>
              <a:gd name="adj" fmla="val 8000"/>
            </a:avLst>
          </a:prstGeom>
          <a:solidFill>
            <a:srgbClr val="1A4659"/>
          </a:solidFill>
          <a:ln>
            <a:solidFill>
              <a:srgbClr val="1A46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80960" y="5175504"/>
            <a:ext cx="324612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85E9C9"/>
                </a:solidFill>
                <a:latin typeface="Microsoft YaHei"/>
              </a:rPr>
              <a:t>目标：保供有底、调峰有力、燃料有序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62179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C6C7F"/>
                </a:solidFill>
                <a:latin typeface="Microsoft YaHei"/>
              </a:rPr>
              <a:t>十五五 · 无锡能源发展规划研究思路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88136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0A192F"/>
                </a:solidFill>
                <a:latin typeface="Microsoft YaHei"/>
              </a:rPr>
              <a:t>四、重点任务（二）——构建绿色多元的清洁能源供给体系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493776" cy="54864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28232"/>
            <a:ext cx="50292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C6C7F"/>
                </a:solidFill>
                <a:latin typeface="Microsoft YaHe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508760"/>
            <a:ext cx="603504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A192F"/>
                </a:solidFill>
                <a:latin typeface="Microsoft YaHei"/>
              </a:rPr>
              <a:t>双轮驱动：市域立体挖潜 + 跨区引绿攻坚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057400"/>
            <a:ext cx="5166360" cy="3611880"/>
          </a:xfrm>
          <a:prstGeom prst="roundRect">
            <a:avLst>
              <a:gd name="adj" fmla="val 8000"/>
            </a:avLst>
          </a:prstGeom>
          <a:solidFill>
            <a:srgbClr val="E2F7EF"/>
          </a:solidFill>
          <a:ln>
            <a:solidFill>
              <a:srgbClr val="E2F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0" y="2057400"/>
            <a:ext cx="5166360" cy="3611880"/>
          </a:xfrm>
          <a:prstGeom prst="roundRect">
            <a:avLst>
              <a:gd name="adj" fmla="val 8000"/>
            </a:avLst>
          </a:prstGeom>
          <a:solidFill>
            <a:srgbClr val="E8EFFD"/>
          </a:solidFill>
          <a:ln>
            <a:solidFill>
              <a:srgbClr val="E8EF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377440"/>
            <a:ext cx="228600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059669"/>
                </a:solidFill>
                <a:latin typeface="Microsoft YaHei"/>
              </a:rPr>
              <a:t>内源极限挖潜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61488"/>
            <a:ext cx="420624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C6C7F"/>
                </a:solidFill>
                <a:latin typeface="Microsoft YaHei"/>
              </a:rPr>
              <a:t>把有限空间变成高密度绿色增量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" y="3246120"/>
            <a:ext cx="452628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0704" y="3410712"/>
            <a:ext cx="310896" cy="310896"/>
          </a:xfrm>
          <a:prstGeom prst="ellipse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0704" y="3419856"/>
            <a:ext cx="310896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72184" y="3392424"/>
            <a:ext cx="3785616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8273C"/>
                </a:solidFill>
                <a:latin typeface="Microsoft YaHei"/>
              </a:rPr>
              <a:t>光伏 + 工业园区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3776472"/>
            <a:ext cx="416052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C6C7F"/>
                </a:solidFill>
                <a:latin typeface="Microsoft YaHei"/>
              </a:rPr>
              <a:t>新建超亿元厂房 100% 预留载荷 / BIPV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" y="4297679"/>
            <a:ext cx="452628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60704" y="4462271"/>
            <a:ext cx="310896" cy="310896"/>
          </a:xfrm>
          <a:prstGeom prst="ellipse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0704" y="4471416"/>
            <a:ext cx="310896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72184" y="4443983"/>
            <a:ext cx="3785616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8273C"/>
                </a:solidFill>
                <a:latin typeface="Microsoft YaHei"/>
              </a:rPr>
              <a:t>生物质与浅层地热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" y="4828031"/>
            <a:ext cx="416052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C6C7F"/>
                </a:solidFill>
                <a:latin typeface="Microsoft YaHei"/>
              </a:rPr>
              <a:t>Bio-LNG；太湖新城地源热泵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230368"/>
            <a:ext cx="429768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59669"/>
                </a:solidFill>
                <a:latin typeface="Microsoft YaHei"/>
              </a:rPr>
              <a:t>2030 光伏装机破 1000 万千瓦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2377440"/>
            <a:ext cx="228600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E3A8A"/>
                </a:solidFill>
                <a:latin typeface="Microsoft YaHei"/>
              </a:rPr>
              <a:t>跨区战略引绿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2761488"/>
            <a:ext cx="429768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C6C7F"/>
                </a:solidFill>
                <a:latin typeface="Microsoft YaHei"/>
              </a:rPr>
              <a:t>以物理通道与长期交易锁定清洁电力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702552" y="3154680"/>
            <a:ext cx="452628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867144" y="3319272"/>
            <a:ext cx="310896" cy="310896"/>
          </a:xfrm>
          <a:prstGeom prst="ellipse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67144" y="3328416"/>
            <a:ext cx="310896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78624" y="3300984"/>
            <a:ext cx="3785616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8273C"/>
                </a:solidFill>
                <a:latin typeface="Microsoft YaHei"/>
              </a:rPr>
              <a:t>省内“引绿”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85432" y="3685032"/>
            <a:ext cx="4160520" cy="-91439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C6C7F"/>
                </a:solidFill>
                <a:latin typeface="Microsoft YaHei"/>
              </a:rPr>
              <a:t>凤城—梅里；联合投资苏北海风、核电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702552" y="3904488"/>
            <a:ext cx="452628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867144" y="4069080"/>
            <a:ext cx="310896" cy="310896"/>
          </a:xfrm>
          <a:prstGeom prst="ellipse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67144" y="4078224"/>
            <a:ext cx="310896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78624" y="4050792"/>
            <a:ext cx="3785616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8273C"/>
                </a:solidFill>
                <a:latin typeface="Microsoft YaHei"/>
              </a:rPr>
              <a:t>特高压大动脉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85432" y="4434840"/>
            <a:ext cx="4160520" cy="-91439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C6C7F"/>
                </a:solidFill>
                <a:latin typeface="Microsoft YaHei"/>
              </a:rPr>
              <a:t>锦苏直流、白鹤滩入苏；区外调绿超 180 亿 kWh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702552" y="4654296"/>
            <a:ext cx="452628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867144" y="4818888"/>
            <a:ext cx="310896" cy="310896"/>
          </a:xfrm>
          <a:prstGeom prst="ellipse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67144" y="4828032"/>
            <a:ext cx="310896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78624" y="4800600"/>
            <a:ext cx="3785616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8273C"/>
                </a:solidFill>
                <a:latin typeface="Microsoft YaHei"/>
              </a:rPr>
              <a:t>外氢入锡与副产利用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85432" y="5184648"/>
            <a:ext cx="4160520" cy="-91439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C6C7F"/>
                </a:solidFill>
                <a:latin typeface="Microsoft YaHei"/>
              </a:rPr>
              <a:t>副产氢提纯；预留西氢东输接口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62179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C6C7F"/>
                </a:solidFill>
                <a:latin typeface="Microsoft YaHei"/>
              </a:rPr>
              <a:t>十五五 · 无锡能源发展规划研究思路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88136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0A192F"/>
                </a:solidFill>
                <a:latin typeface="Microsoft YaHei"/>
              </a:rPr>
              <a:t>四、重点任务（三）——构建安全柔性的能源网络体系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493776" cy="54864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28232"/>
            <a:ext cx="50292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C6C7F"/>
                </a:solidFill>
                <a:latin typeface="Microsoft YaHei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45920"/>
            <a:ext cx="3383280" cy="4389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645920"/>
            <a:ext cx="3383280" cy="164592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86968" y="2039112"/>
            <a:ext cx="566928" cy="566928"/>
          </a:xfrm>
          <a:prstGeom prst="ellipse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157984"/>
            <a:ext cx="566928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816352"/>
            <a:ext cx="274320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0A192F"/>
                </a:solidFill>
                <a:latin typeface="Microsoft YaHei"/>
              </a:rPr>
              <a:t>坚强主网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456432"/>
            <a:ext cx="2743200" cy="11430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C6C7F"/>
                </a:solidFill>
                <a:latin typeface="Microsoft YaHei"/>
              </a:rPr>
              <a:t>500 千伏环网互济
220 千伏分区运行
跨江送电配套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6968" y="5166360"/>
            <a:ext cx="1051560" cy="256032"/>
          </a:xfrm>
          <a:prstGeom prst="roundRect">
            <a:avLst>
              <a:gd name="adj" fmla="val 8000"/>
            </a:avLst>
          </a:prstGeom>
          <a:solidFill>
            <a:srgbClr val="E8EFFD"/>
          </a:solidFill>
          <a:ln>
            <a:solidFill>
              <a:srgbClr val="E8EF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175504"/>
            <a:ext cx="105156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1E3A8A"/>
                </a:solidFill>
                <a:latin typeface="Microsoft YaHei"/>
              </a:rPr>
              <a:t>网架互济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1645920"/>
            <a:ext cx="3383280" cy="4389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89120" y="1645920"/>
            <a:ext cx="3383280" cy="16459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681728" y="2039112"/>
            <a:ext cx="566928" cy="56692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81728" y="2157984"/>
            <a:ext cx="566928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81728" y="2816352"/>
            <a:ext cx="274320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0A192F"/>
                </a:solidFill>
                <a:latin typeface="Microsoft YaHei"/>
              </a:rPr>
              <a:t>配网承载力倍增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81728" y="3456432"/>
            <a:ext cx="2743200" cy="11430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C6C7F"/>
                </a:solidFill>
                <a:latin typeface="Microsoft YaHei"/>
              </a:rPr>
              <a:t>智能台区消除反向过载
DVR + 超导储能
半导体级供电示范区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81728" y="5166360"/>
            <a:ext cx="1051560" cy="256032"/>
          </a:xfrm>
          <a:prstGeom prst="roundRect">
            <a:avLst>
              <a:gd name="adj" fmla="val 8000"/>
            </a:avLst>
          </a:prstGeom>
          <a:solidFill>
            <a:srgbClr val="E2F7EF"/>
          </a:solidFill>
          <a:ln>
            <a:solidFill>
              <a:srgbClr val="E2F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81728" y="5175504"/>
            <a:ext cx="105156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10B981"/>
                </a:solidFill>
                <a:latin typeface="Microsoft YaHei"/>
              </a:rPr>
              <a:t>供电不扰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83880" y="1645920"/>
            <a:ext cx="3383280" cy="4389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83880" y="1645920"/>
            <a:ext cx="3383280" cy="16459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476488" y="2039112"/>
            <a:ext cx="566928" cy="566928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76488" y="2157984"/>
            <a:ext cx="566928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76488" y="2816352"/>
            <a:ext cx="274320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0A192F"/>
                </a:solidFill>
                <a:latin typeface="Microsoft YaHei"/>
              </a:rPr>
              <a:t>超充之城与加氢网络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76488" y="3456432"/>
            <a:ext cx="2743200" cy="11430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C6C7F"/>
                </a:solidFill>
                <a:latin typeface="Microsoft YaHei"/>
              </a:rPr>
              <a:t>液冷超充桩 &gt; 5000 根
综合加能站 50 座
2030 加氢站 &gt; 15 座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76488" y="5166360"/>
            <a:ext cx="1051560" cy="256032"/>
          </a:xfrm>
          <a:prstGeom prst="roundRect">
            <a:avLst>
              <a:gd name="adj" fmla="val 8000"/>
            </a:avLst>
          </a:prstGeom>
          <a:solidFill>
            <a:srgbClr val="FFF5DB"/>
          </a:solidFill>
          <a:ln>
            <a:solidFill>
              <a:srgbClr val="FFF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76488" y="5175504"/>
            <a:ext cx="105156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59E0B"/>
                </a:solidFill>
                <a:latin typeface="Microsoft YaHei"/>
              </a:rPr>
              <a:t>交通脱碳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069080" y="3703320"/>
            <a:ext cx="320040" cy="0"/>
          </a:xfrm>
          <a:prstGeom prst="line">
            <a:avLst/>
          </a:prstGeom>
          <a:ln w="25400">
            <a:solidFill>
              <a:srgbClr val="DAE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863840" y="3703320"/>
            <a:ext cx="320039" cy="0"/>
          </a:xfrm>
          <a:prstGeom prst="line">
            <a:avLst/>
          </a:prstGeom>
          <a:ln w="25400">
            <a:solidFill>
              <a:srgbClr val="DAE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62179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C6C7F"/>
                </a:solidFill>
                <a:latin typeface="Microsoft YaHei"/>
              </a:rPr>
              <a:t>十五五 · 无锡能源发展规划研究思路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88136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0A192F"/>
                </a:solidFill>
                <a:latin typeface="Microsoft YaHei"/>
              </a:rPr>
              <a:t>四、重点任务（四）——构建协同高效的能源运行体系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493776" cy="54864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28232"/>
            <a:ext cx="50292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C6C7F"/>
                </a:solidFill>
                <a:latin typeface="Microsoft YaHe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81328"/>
            <a:ext cx="1051560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A192F"/>
                </a:solidFill>
                <a:latin typeface="Microsoft YaHei"/>
              </a:rPr>
              <a:t>从“静态设备”转向“可感知、可交易、可调度”的城市能源操作系统</a:t>
            </a:r>
          </a:p>
        </p:txBody>
      </p:sp>
      <p:sp>
        <p:nvSpPr>
          <p:cNvPr id="8" name="Oval 7"/>
          <p:cNvSpPr/>
          <p:nvPr/>
        </p:nvSpPr>
        <p:spPr>
          <a:xfrm>
            <a:off x="1005840" y="2743200"/>
            <a:ext cx="2468880" cy="2468880"/>
          </a:xfrm>
          <a:prstGeom prst="ellipse">
            <a:avLst/>
          </a:prstGeom>
          <a:solidFill>
            <a:srgbClr val="0A192F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70432" y="2907792"/>
            <a:ext cx="2139696" cy="2139696"/>
          </a:xfrm>
          <a:prstGeom prst="ellipse">
            <a:avLst/>
          </a:prstGeom>
          <a:solidFill>
            <a:srgbClr val="122744"/>
          </a:solidFill>
          <a:ln>
            <a:solidFill>
              <a:srgbClr val="122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61872" y="3401568"/>
            <a:ext cx="196596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储能百兆瓦跨越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1872" y="3913632"/>
            <a:ext cx="196596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2CBE2"/>
                </a:solidFill>
                <a:latin typeface="Microsoft YaHei"/>
              </a:rPr>
              <a:t>100 万千瓦
江阴 / 宜兴电网侧</a:t>
            </a:r>
          </a:p>
        </p:txBody>
      </p:sp>
      <p:sp>
        <p:nvSpPr>
          <p:cNvPr id="12" name="Oval 11"/>
          <p:cNvSpPr/>
          <p:nvPr/>
        </p:nvSpPr>
        <p:spPr>
          <a:xfrm>
            <a:off x="4480560" y="2057400"/>
            <a:ext cx="2468880" cy="2468880"/>
          </a:xfrm>
          <a:prstGeom prst="ellipse">
            <a:avLst/>
          </a:prstGeom>
          <a:solidFill>
            <a:srgbClr val="0A192F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45152" y="2221992"/>
            <a:ext cx="2139696" cy="2139696"/>
          </a:xfrm>
          <a:prstGeom prst="ellipse">
            <a:avLst/>
          </a:prstGeom>
          <a:solidFill>
            <a:srgbClr val="122744"/>
          </a:solidFill>
          <a:ln>
            <a:solidFill>
              <a:srgbClr val="122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36592" y="2715768"/>
            <a:ext cx="196596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城市级 VPP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6592" y="3227832"/>
            <a:ext cx="196596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2CBE2"/>
                </a:solidFill>
                <a:latin typeface="Microsoft YaHei"/>
              </a:rPr>
              <a:t>370 家企业 + 5 万根桩
削峰能力 ≥ 5%</a:t>
            </a:r>
          </a:p>
        </p:txBody>
      </p:sp>
      <p:sp>
        <p:nvSpPr>
          <p:cNvPr id="16" name="Oval 15"/>
          <p:cNvSpPr/>
          <p:nvPr/>
        </p:nvSpPr>
        <p:spPr>
          <a:xfrm>
            <a:off x="8046720" y="2743200"/>
            <a:ext cx="2468880" cy="2468880"/>
          </a:xfrm>
          <a:prstGeom prst="ellipse">
            <a:avLst/>
          </a:prstGeom>
          <a:solidFill>
            <a:srgbClr val="0A192F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11312" y="2907792"/>
            <a:ext cx="2139696" cy="2139696"/>
          </a:xfrm>
          <a:prstGeom prst="ellipse">
            <a:avLst/>
          </a:prstGeom>
          <a:solidFill>
            <a:srgbClr val="122744"/>
          </a:solidFill>
          <a:ln>
            <a:solidFill>
              <a:srgbClr val="122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2752" y="3401568"/>
            <a:ext cx="196596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工业微电网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3913632"/>
            <a:ext cx="196596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2CBE2"/>
                </a:solidFill>
                <a:latin typeface="Microsoft YaHei"/>
              </a:rPr>
              <a:t>10 个标杆
48 小时黑启动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3474720" y="3337560"/>
            <a:ext cx="1005840" cy="640079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949440" y="3337560"/>
            <a:ext cx="1097280" cy="640079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2971800" y="5440680"/>
            <a:ext cx="6263640" cy="502920"/>
          </a:xfrm>
          <a:prstGeom prst="roundRect">
            <a:avLst>
              <a:gd name="adj" fmla="val 8000"/>
            </a:avLst>
          </a:prstGeom>
          <a:solidFill>
            <a:srgbClr val="E2F7EF"/>
          </a:solidFill>
          <a:ln>
            <a:solidFill>
              <a:srgbClr val="E2F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54680" y="5568696"/>
            <a:ext cx="589788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059669"/>
                </a:solidFill>
                <a:latin typeface="Microsoft YaHei"/>
              </a:rPr>
              <a:t>车网互动 V2G：谷充峰放，把移动储能纳入城市调度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62179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C6C7F"/>
                </a:solidFill>
                <a:latin typeface="Microsoft YaHei"/>
              </a:rPr>
              <a:t>十五五 · 无锡能源发展规划研究思路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88136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0A192F"/>
                </a:solidFill>
                <a:latin typeface="Microsoft YaHei"/>
              </a:rPr>
              <a:t>四、重点任务（五）——构建节约集约的能源消费体系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493776" cy="54864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28232"/>
            <a:ext cx="50292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C6C7F"/>
                </a:solidFill>
                <a:latin typeface="Microsoft YaHei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00200"/>
            <a:ext cx="521208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600200"/>
            <a:ext cx="118872" cy="169164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56232"/>
            <a:ext cx="91440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E3A8A"/>
                </a:solidFill>
                <a:latin typeface="Microsoft YaHei"/>
              </a:rPr>
              <a:t>工业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1874519"/>
            <a:ext cx="3429000" cy="8686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8273C"/>
                </a:solidFill>
                <a:latin typeface="Microsoft YaHei"/>
              </a:rPr>
              <a:t>特钢转炉长流程 → 短流程废钢电炉 + 富氢冶炼；园区集中供气 100%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862072"/>
            <a:ext cx="1097280" cy="256032"/>
          </a:xfrm>
          <a:prstGeom prst="roundRect">
            <a:avLst>
              <a:gd name="adj" fmla="val 8000"/>
            </a:avLst>
          </a:prstGeom>
          <a:solidFill>
            <a:srgbClr val="E8EFFD"/>
          </a:solidFill>
          <a:ln>
            <a:solidFill>
              <a:srgbClr val="E8EF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871215"/>
            <a:ext cx="109728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1E3A8A"/>
                </a:solidFill>
                <a:latin typeface="Microsoft YaHei"/>
              </a:rPr>
              <a:t>流程再造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600200"/>
            <a:ext cx="521208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600200"/>
            <a:ext cx="118872" cy="16916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856232"/>
            <a:ext cx="91440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0B981"/>
                </a:solidFill>
                <a:latin typeface="Microsoft YaHei"/>
              </a:rPr>
              <a:t>算力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1874519"/>
            <a:ext cx="3429000" cy="8686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8273C"/>
                </a:solidFill>
                <a:latin typeface="Microsoft YaHei"/>
              </a:rPr>
              <a:t>新建算力 PUE ≤ 1.15；液冷全面普及；绿电就地消纳 ≥ 80%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2862072"/>
            <a:ext cx="1097280" cy="256032"/>
          </a:xfrm>
          <a:prstGeom prst="roundRect">
            <a:avLst>
              <a:gd name="adj" fmla="val 8000"/>
            </a:avLst>
          </a:prstGeom>
          <a:solidFill>
            <a:srgbClr val="E2F7EF"/>
          </a:solidFill>
          <a:ln>
            <a:solidFill>
              <a:srgbClr val="E2F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871215"/>
            <a:ext cx="109728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10B981"/>
                </a:solidFill>
                <a:latin typeface="Microsoft YaHei"/>
              </a:rPr>
              <a:t>能效硬约束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749039"/>
            <a:ext cx="521208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" y="3749039"/>
            <a:ext cx="118872" cy="169164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005072"/>
            <a:ext cx="91440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F59E0B"/>
                </a:solidFill>
                <a:latin typeface="Microsoft YaHei"/>
              </a:rPr>
              <a:t>交通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4023359"/>
            <a:ext cx="3429000" cy="8686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8273C"/>
                </a:solidFill>
                <a:latin typeface="Microsoft YaHei"/>
              </a:rPr>
              <a:t>长三角绿氢物流走廊；氢能重卡超 1500 辆；试点纯电及氢能货船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5010912"/>
            <a:ext cx="1097280" cy="256032"/>
          </a:xfrm>
          <a:prstGeom prst="roundRect">
            <a:avLst>
              <a:gd name="adj" fmla="val 8000"/>
            </a:avLst>
          </a:prstGeom>
          <a:solidFill>
            <a:srgbClr val="FFF5DB"/>
          </a:solidFill>
          <a:ln>
            <a:solidFill>
              <a:srgbClr val="FFF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020055"/>
            <a:ext cx="109728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59E0B"/>
                </a:solidFill>
                <a:latin typeface="Microsoft YaHei"/>
              </a:rPr>
              <a:t>交通新燃料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749039"/>
            <a:ext cx="521208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749039"/>
            <a:ext cx="118872" cy="1691640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4005072"/>
            <a:ext cx="91440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059669"/>
                </a:solidFill>
                <a:latin typeface="Microsoft YaHei"/>
              </a:rPr>
              <a:t>建筑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4023359"/>
            <a:ext cx="3429000" cy="8686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8273C"/>
                </a:solidFill>
                <a:latin typeface="Microsoft YaHei"/>
              </a:rPr>
              <a:t>新建建筑 100% 星级绿建；公共机构全覆盖 EMC 合同能源管理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92240" y="5010912"/>
            <a:ext cx="1097280" cy="256032"/>
          </a:xfrm>
          <a:prstGeom prst="roundRect">
            <a:avLst>
              <a:gd name="adj" fmla="val 8000"/>
            </a:avLst>
          </a:prstGeom>
          <a:solidFill>
            <a:srgbClr val="E2F7EF"/>
          </a:solidFill>
          <a:ln>
            <a:solidFill>
              <a:srgbClr val="E2F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5020055"/>
            <a:ext cx="109728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059669"/>
                </a:solidFill>
                <a:latin typeface="Microsoft YaHei"/>
              </a:rPr>
              <a:t>梯级用能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148840" y="5897880"/>
            <a:ext cx="7863840" cy="384048"/>
          </a:xfrm>
          <a:prstGeom prst="roundRect">
            <a:avLst>
              <a:gd name="adj" fmla="val 8000"/>
            </a:avLst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377440" y="5980176"/>
            <a:ext cx="740664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icrosoft YaHei"/>
              </a:rPr>
              <a:t>以单位产出能耗为标尺，推动能源消费从“总量管理”转向“效率管理”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62179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C6C7F"/>
                </a:solidFill>
                <a:latin typeface="Microsoft YaHei"/>
              </a:rPr>
              <a:t>十五五 · 无锡能源发展规划研究思路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88136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0A192F"/>
                </a:solidFill>
                <a:latin typeface="Microsoft YaHei"/>
              </a:rPr>
              <a:t>四、重点任务（六）——构建创新互促的能源产业体系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493776" cy="54864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28232"/>
            <a:ext cx="50292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C6C7F"/>
                </a:solidFill>
                <a:latin typeface="Microsoft YaHei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508760"/>
            <a:ext cx="1060704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A192F"/>
                </a:solidFill>
                <a:latin typeface="Microsoft YaHei"/>
              </a:rPr>
              <a:t>产业闭环：技术研发 → 本地装备 → 开放场景 → 绿色出海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40280"/>
            <a:ext cx="2286000" cy="2286000"/>
          </a:xfrm>
          <a:prstGeom prst="roundRect">
            <a:avLst>
              <a:gd name="adj" fmla="val 8000"/>
            </a:avLst>
          </a:prstGeom>
          <a:solidFill>
            <a:srgbClr val="E8EFFD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87168"/>
            <a:ext cx="50292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E3A8A"/>
                </a:solidFill>
                <a:latin typeface="Microsoft Ya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944368"/>
            <a:ext cx="192024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0A192F"/>
                </a:solidFill>
                <a:latin typeface="Microsoft YaHei"/>
              </a:rPr>
              <a:t>技术研发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529584"/>
            <a:ext cx="1874519" cy="5943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C6C7F"/>
                </a:solidFill>
                <a:latin typeface="Microsoft YaHei"/>
              </a:rPr>
              <a:t>钙钛矿叠层
固态电池 · SiC/GaN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971800" y="3383280"/>
            <a:ext cx="530352" cy="0"/>
          </a:xfrm>
          <a:prstGeom prst="line">
            <a:avLst/>
          </a:prstGeom>
          <a:ln w="25400">
            <a:solidFill>
              <a:srgbClr val="1E3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02152" y="2240280"/>
            <a:ext cx="2286000" cy="2286000"/>
          </a:xfrm>
          <a:prstGeom prst="roundRect">
            <a:avLst>
              <a:gd name="adj" fmla="val 8000"/>
            </a:avLst>
          </a:prstGeom>
          <a:solidFill>
            <a:srgbClr val="E2F7EF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85032" y="2487168"/>
            <a:ext cx="50292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0B981"/>
                </a:solidFill>
                <a:latin typeface="Microsoft YaHe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5032" y="2944368"/>
            <a:ext cx="192024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0A192F"/>
                </a:solidFill>
                <a:latin typeface="Microsoft YaHei"/>
              </a:rPr>
              <a:t>本地装备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85032" y="3529584"/>
            <a:ext cx="1874519" cy="5943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C6C7F"/>
                </a:solidFill>
                <a:latin typeface="Microsoft YaHei"/>
              </a:rPr>
              <a:t>光伏母机
海风整机 · 电解槽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788152" y="3383280"/>
            <a:ext cx="530352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318504" y="2240280"/>
            <a:ext cx="2286000" cy="2286000"/>
          </a:xfrm>
          <a:prstGeom prst="roundRect">
            <a:avLst>
              <a:gd name="adj" fmla="val 8000"/>
            </a:avLst>
          </a:prstGeom>
          <a:solidFill>
            <a:srgbClr val="FFF5D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01384" y="2487168"/>
            <a:ext cx="50292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59E0B"/>
                </a:solidFill>
                <a:latin typeface="Microsoft YaHe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1384" y="2944368"/>
            <a:ext cx="192024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0A192F"/>
                </a:solidFill>
                <a:latin typeface="Microsoft YaHei"/>
              </a:rPr>
              <a:t>开放场景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1384" y="3529584"/>
            <a:ext cx="1874519" cy="5943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C6C7F"/>
                </a:solidFill>
                <a:latin typeface="Microsoft YaHei"/>
              </a:rPr>
              <a:t>首台套清单
零碳园区试验田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604504" y="3383280"/>
            <a:ext cx="530352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134856" y="2240280"/>
            <a:ext cx="2286000" cy="2286000"/>
          </a:xfrm>
          <a:prstGeom prst="roundRect">
            <a:avLst>
              <a:gd name="adj" fmla="val 8000"/>
            </a:avLst>
          </a:prstGeom>
          <a:solidFill>
            <a:srgbClr val="E2F7EF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17736" y="2487168"/>
            <a:ext cx="50292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59669"/>
                </a:solidFill>
                <a:latin typeface="Microsoft YaHe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17736" y="2944368"/>
            <a:ext cx="192024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0A192F"/>
                </a:solidFill>
                <a:latin typeface="Microsoft YaHei"/>
              </a:rPr>
              <a:t>绿色出海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17736" y="3529584"/>
            <a:ext cx="1874519" cy="5943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C6C7F"/>
                </a:solidFill>
                <a:latin typeface="Microsoft YaHei"/>
              </a:rPr>
              <a:t>碳足迹中心
数字电池护照 · CBAM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5840" y="4983480"/>
            <a:ext cx="3063240" cy="822960"/>
          </a:xfrm>
          <a:prstGeom prst="roundRect">
            <a:avLst>
              <a:gd name="adj" fmla="val 8000"/>
            </a:avLst>
          </a:prstGeom>
          <a:solidFill>
            <a:srgbClr val="E8EFFD"/>
          </a:solidFill>
          <a:ln>
            <a:solidFill>
              <a:srgbClr val="E8EF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05840" y="4983480"/>
            <a:ext cx="64008" cy="82296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88720" y="5120640"/>
            <a:ext cx="274320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8273C"/>
                </a:solidFill>
                <a:latin typeface="Microsoft YaHei"/>
              </a:rPr>
              <a:t>规模目标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20" y="5458968"/>
            <a:ext cx="2743200" cy="23774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C6C7F"/>
                </a:solidFill>
                <a:latin typeface="Microsoft YaHei"/>
              </a:rPr>
              <a:t>新能源装备产值突破 5500 亿元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53712" y="4983480"/>
            <a:ext cx="3063240" cy="822960"/>
          </a:xfrm>
          <a:prstGeom prst="roundRect">
            <a:avLst>
              <a:gd name="adj" fmla="val 8000"/>
            </a:avLst>
          </a:prstGeom>
          <a:solidFill>
            <a:srgbClr val="E2F7EF"/>
          </a:solidFill>
          <a:ln>
            <a:solidFill>
              <a:srgbClr val="E2F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53712" y="4983480"/>
            <a:ext cx="64008" cy="82296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36592" y="5120640"/>
            <a:ext cx="274320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8273C"/>
                </a:solidFill>
                <a:latin typeface="Microsoft YaHei"/>
              </a:rPr>
              <a:t>应用机制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36592" y="5458968"/>
            <a:ext cx="2743200" cy="23774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C6C7F"/>
                </a:solidFill>
                <a:latin typeface="Microsoft YaHei"/>
              </a:rPr>
              <a:t>发布本地零碳场景清单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92440" y="4983480"/>
            <a:ext cx="3063240" cy="822960"/>
          </a:xfrm>
          <a:prstGeom prst="roundRect">
            <a:avLst>
              <a:gd name="adj" fmla="val 8000"/>
            </a:avLst>
          </a:prstGeom>
          <a:solidFill>
            <a:srgbClr val="FFF5DB"/>
          </a:solidFill>
          <a:ln>
            <a:solidFill>
              <a:srgbClr val="FFF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92440" y="4983480"/>
            <a:ext cx="64008" cy="82296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75319" y="5120640"/>
            <a:ext cx="274320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8273C"/>
                </a:solidFill>
                <a:latin typeface="Microsoft YaHei"/>
              </a:rPr>
              <a:t>合规能力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19" y="5458968"/>
            <a:ext cx="2743200" cy="23774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C6C7F"/>
                </a:solidFill>
                <a:latin typeface="Microsoft YaHei"/>
              </a:rPr>
              <a:t>打通数字电池护照与 CBAM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62179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C6C7F"/>
                </a:solidFill>
                <a:latin typeface="Microsoft YaHei"/>
              </a:rPr>
              <a:t>十五五 · 无锡能源发展规划研究思路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88136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0A192F"/>
                </a:solidFill>
                <a:latin typeface="Microsoft YaHei"/>
              </a:rPr>
              <a:t>五、保障措施——汇聚能源高质量发展关键要素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493776" cy="54864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28232"/>
            <a:ext cx="50292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C6C7F"/>
                </a:solidFill>
                <a:latin typeface="Microsoft YaHei"/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1828800"/>
            <a:ext cx="2057400" cy="342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33856" y="2176272"/>
            <a:ext cx="731520" cy="731520"/>
          </a:xfrm>
          <a:prstGeom prst="ellipse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2368296"/>
            <a:ext cx="7315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" y="3218688"/>
            <a:ext cx="16459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0A192F"/>
                </a:solidFill>
                <a:latin typeface="Microsoft YaHei"/>
              </a:rPr>
              <a:t>组织与机制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3886200"/>
            <a:ext cx="16459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C6C7F"/>
                </a:solidFill>
                <a:latin typeface="Microsoft YaHei"/>
              </a:rPr>
              <a:t>专班统筹多规合一
指标纳入高质量考核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" y="4709160"/>
            <a:ext cx="1005840" cy="256032"/>
          </a:xfrm>
          <a:prstGeom prst="roundRect">
            <a:avLst>
              <a:gd name="adj" fmla="val 8000"/>
            </a:avLst>
          </a:prstGeom>
          <a:solidFill>
            <a:srgbClr val="E8EFFD"/>
          </a:solidFill>
          <a:ln>
            <a:solidFill>
              <a:srgbClr val="E8EF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718304"/>
            <a:ext cx="100584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1E3A8A"/>
                </a:solidFill>
                <a:latin typeface="Microsoft YaHei"/>
              </a:rPr>
              <a:t>统筹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07208" y="1828800"/>
            <a:ext cx="2057400" cy="342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465576" y="2176272"/>
            <a:ext cx="731520" cy="73152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65576" y="2368296"/>
            <a:ext cx="7315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08376" y="3218688"/>
            <a:ext cx="16459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0A192F"/>
                </a:solidFill>
                <a:latin typeface="Microsoft YaHei"/>
              </a:rPr>
              <a:t>碳排放双控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08376" y="3886200"/>
            <a:ext cx="16459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C6C7F"/>
                </a:solidFill>
                <a:latin typeface="Microsoft YaHei"/>
              </a:rPr>
              <a:t>能碳账户
重大项目碳前置审查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37560" y="4709160"/>
            <a:ext cx="1005840" cy="256032"/>
          </a:xfrm>
          <a:prstGeom prst="roundRect">
            <a:avLst>
              <a:gd name="adj" fmla="val 8000"/>
            </a:avLst>
          </a:prstGeom>
          <a:solidFill>
            <a:srgbClr val="E2F7EF"/>
          </a:solidFill>
          <a:ln>
            <a:solidFill>
              <a:srgbClr val="E2F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37560" y="4718304"/>
            <a:ext cx="100584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10B981"/>
                </a:solidFill>
                <a:latin typeface="Microsoft YaHei"/>
              </a:rPr>
              <a:t>约束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38927" y="1828800"/>
            <a:ext cx="2057400" cy="342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797295" y="2176272"/>
            <a:ext cx="731520" cy="73152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97295" y="2368296"/>
            <a:ext cx="7315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0095" y="3218688"/>
            <a:ext cx="16459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0A192F"/>
                </a:solidFill>
                <a:latin typeface="Microsoft YaHei"/>
              </a:rPr>
              <a:t>要素与金融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40095" y="3886200"/>
            <a:ext cx="16459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C6C7F"/>
                </a:solidFill>
                <a:latin typeface="Microsoft YaHei"/>
              </a:rPr>
              <a:t>产业母基金
新能源 REITs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79" y="4709160"/>
            <a:ext cx="1005840" cy="256032"/>
          </a:xfrm>
          <a:prstGeom prst="roundRect">
            <a:avLst>
              <a:gd name="adj" fmla="val 8000"/>
            </a:avLst>
          </a:prstGeom>
          <a:solidFill>
            <a:srgbClr val="FFF5DB"/>
          </a:solidFill>
          <a:ln>
            <a:solidFill>
              <a:srgbClr val="FFF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79" y="4718304"/>
            <a:ext cx="100584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59E0B"/>
                </a:solidFill>
                <a:latin typeface="Microsoft YaHei"/>
              </a:rPr>
              <a:t>投入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70648" y="1828800"/>
            <a:ext cx="2057400" cy="342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129016" y="2176272"/>
            <a:ext cx="731520" cy="731520"/>
          </a:xfrm>
          <a:prstGeom prst="ellipse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29016" y="2368296"/>
            <a:ext cx="7315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71816" y="3218688"/>
            <a:ext cx="16459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0A192F"/>
                </a:solidFill>
                <a:latin typeface="Microsoft YaHei"/>
              </a:rPr>
              <a:t>科技与人才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71816" y="3886200"/>
            <a:ext cx="16459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C6C7F"/>
                </a:solidFill>
                <a:latin typeface="Microsoft YaHei"/>
              </a:rPr>
              <a:t>揭榜挂帅
太湖人才计划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01000" y="4709160"/>
            <a:ext cx="1005840" cy="256032"/>
          </a:xfrm>
          <a:prstGeom prst="roundRect">
            <a:avLst>
              <a:gd name="adj" fmla="val 8000"/>
            </a:avLst>
          </a:prstGeom>
          <a:solidFill>
            <a:srgbClr val="E2F7EF"/>
          </a:solidFill>
          <a:ln>
            <a:solidFill>
              <a:srgbClr val="E2F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01000" y="4718304"/>
            <a:ext cx="100584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059669"/>
                </a:solidFill>
                <a:latin typeface="Microsoft YaHei"/>
              </a:rPr>
              <a:t>攻关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802367" y="1828800"/>
            <a:ext cx="2057400" cy="342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460736" y="2176272"/>
            <a:ext cx="731520" cy="731520"/>
          </a:xfrm>
          <a:prstGeom prst="ellipse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460736" y="2368296"/>
            <a:ext cx="7315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03536" y="3218688"/>
            <a:ext cx="16459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0A192F"/>
                </a:solidFill>
                <a:latin typeface="Microsoft YaHei"/>
              </a:rPr>
              <a:t>市场与社会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03536" y="3886200"/>
            <a:ext cx="16459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C6C7F"/>
                </a:solidFill>
                <a:latin typeface="Microsoft YaHei"/>
              </a:rPr>
              <a:t>现货交易
全域碳普惠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332719" y="4709160"/>
            <a:ext cx="1005840" cy="256032"/>
          </a:xfrm>
          <a:prstGeom prst="roundRect">
            <a:avLst>
              <a:gd name="adj" fmla="val 8000"/>
            </a:avLst>
          </a:prstGeom>
          <a:solidFill>
            <a:srgbClr val="E8EFFD"/>
          </a:solidFill>
          <a:ln>
            <a:solidFill>
              <a:srgbClr val="E8EF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332719" y="4718304"/>
            <a:ext cx="100584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1E3A8A"/>
                </a:solidFill>
                <a:latin typeface="Microsoft YaHei"/>
              </a:rPr>
              <a:t>协同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371600" y="5806440"/>
            <a:ext cx="9418320" cy="411480"/>
          </a:xfrm>
          <a:prstGeom prst="roundRect">
            <a:avLst>
              <a:gd name="adj" fmla="val 8000"/>
            </a:avLst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600200" y="5907024"/>
            <a:ext cx="896112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icrosoft YaHei"/>
              </a:rPr>
              <a:t>把规划目标转化为年度任务、项目清单和部门责任，让每一项指标都有牵引机制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64008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1C2D7"/>
                </a:solidFill>
                <a:latin typeface="Microsoft YaHei"/>
              </a:rPr>
              <a:t>十五五 · 无锡能源发展规划研究思路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428232"/>
            <a:ext cx="50292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297B3"/>
                </a:solidFill>
                <a:latin typeface="Microsoft YaHei"/>
              </a:rPr>
              <a:t>16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943600"/>
            <a:ext cx="530352" cy="914400"/>
          </a:xfrm>
          <a:prstGeom prst="rect">
            <a:avLst/>
          </a:prstGeom>
          <a:solidFill>
            <a:srgbClr val="102A49"/>
          </a:solidFill>
          <a:ln>
            <a:solidFill>
              <a:srgbClr val="102A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5440680"/>
            <a:ext cx="530352" cy="1417320"/>
          </a:xfrm>
          <a:prstGeom prst="rect">
            <a:avLst/>
          </a:prstGeom>
          <a:solidFill>
            <a:srgbClr val="102A49"/>
          </a:solidFill>
          <a:ln>
            <a:solidFill>
              <a:srgbClr val="102A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63040" y="6080760"/>
            <a:ext cx="530352" cy="777240"/>
          </a:xfrm>
          <a:prstGeom prst="rect">
            <a:avLst/>
          </a:prstGeom>
          <a:solidFill>
            <a:srgbClr val="102A49"/>
          </a:solidFill>
          <a:ln>
            <a:solidFill>
              <a:srgbClr val="102A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148840" y="5212080"/>
            <a:ext cx="530352" cy="1645920"/>
          </a:xfrm>
          <a:prstGeom prst="rect">
            <a:avLst/>
          </a:prstGeom>
          <a:solidFill>
            <a:srgbClr val="102A49"/>
          </a:solidFill>
          <a:ln>
            <a:solidFill>
              <a:srgbClr val="102A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880360" y="5852160"/>
            <a:ext cx="530352" cy="1005840"/>
          </a:xfrm>
          <a:prstGeom prst="rect">
            <a:avLst/>
          </a:prstGeom>
          <a:solidFill>
            <a:srgbClr val="102A49"/>
          </a:solidFill>
          <a:ln>
            <a:solidFill>
              <a:srgbClr val="102A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0" y="4846320"/>
            <a:ext cx="530352" cy="2011680"/>
          </a:xfrm>
          <a:prstGeom prst="rect">
            <a:avLst/>
          </a:prstGeom>
          <a:solidFill>
            <a:srgbClr val="102A49"/>
          </a:solidFill>
          <a:ln>
            <a:solidFill>
              <a:srgbClr val="102A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0" y="5715000"/>
            <a:ext cx="530352" cy="1143000"/>
          </a:xfrm>
          <a:prstGeom prst="rect">
            <a:avLst/>
          </a:prstGeom>
          <a:solidFill>
            <a:srgbClr val="102A49"/>
          </a:solidFill>
          <a:ln>
            <a:solidFill>
              <a:srgbClr val="102A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4389120"/>
            <a:ext cx="530352" cy="2468880"/>
          </a:xfrm>
          <a:prstGeom prst="rect">
            <a:avLst/>
          </a:prstGeom>
          <a:solidFill>
            <a:srgbClr val="102A49"/>
          </a:solidFill>
          <a:ln>
            <a:solidFill>
              <a:srgbClr val="102A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92240" y="5760720"/>
            <a:ext cx="530352" cy="1097280"/>
          </a:xfrm>
          <a:prstGeom prst="rect">
            <a:avLst/>
          </a:prstGeom>
          <a:solidFill>
            <a:srgbClr val="102A49"/>
          </a:solidFill>
          <a:ln>
            <a:solidFill>
              <a:srgbClr val="102A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98079" y="5120640"/>
            <a:ext cx="530352" cy="1737360"/>
          </a:xfrm>
          <a:prstGeom prst="rect">
            <a:avLst/>
          </a:prstGeom>
          <a:solidFill>
            <a:srgbClr val="102A49"/>
          </a:solidFill>
          <a:ln>
            <a:solidFill>
              <a:srgbClr val="102A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595360" y="5943600"/>
            <a:ext cx="530352" cy="914400"/>
          </a:xfrm>
          <a:prstGeom prst="rect">
            <a:avLst/>
          </a:prstGeom>
          <a:solidFill>
            <a:srgbClr val="102A49"/>
          </a:solidFill>
          <a:ln>
            <a:solidFill>
              <a:srgbClr val="102A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509760" y="4937760"/>
            <a:ext cx="530352" cy="1920240"/>
          </a:xfrm>
          <a:prstGeom prst="rect">
            <a:avLst/>
          </a:prstGeom>
          <a:solidFill>
            <a:srgbClr val="102A49"/>
          </a:solidFill>
          <a:ln>
            <a:solidFill>
              <a:srgbClr val="102A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515600" y="5577840"/>
            <a:ext cx="530352" cy="1280160"/>
          </a:xfrm>
          <a:prstGeom prst="rect">
            <a:avLst/>
          </a:prstGeom>
          <a:solidFill>
            <a:srgbClr val="102A49"/>
          </a:solidFill>
          <a:ln>
            <a:solidFill>
              <a:srgbClr val="102A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0" y="4663440"/>
            <a:ext cx="530352" cy="2194560"/>
          </a:xfrm>
          <a:prstGeom prst="rect">
            <a:avLst/>
          </a:prstGeom>
          <a:solidFill>
            <a:srgbClr val="102A49"/>
          </a:solidFill>
          <a:ln>
            <a:solidFill>
              <a:srgbClr val="102A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05840" y="1828800"/>
            <a:ext cx="128016" cy="128016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017520" y="1005840"/>
            <a:ext cx="128016" cy="128016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754880" y="2194560"/>
            <a:ext cx="128016" cy="128016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949440" y="1280160"/>
            <a:ext cx="128016" cy="128016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961120" y="2103120"/>
            <a:ext cx="128016" cy="128016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332720" y="914400"/>
            <a:ext cx="128016" cy="128016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 flipV="1">
            <a:off x="1069848" y="1069848"/>
            <a:ext cx="2011680" cy="822959"/>
          </a:xfrm>
          <a:prstGeom prst="line">
            <a:avLst/>
          </a:prstGeom>
          <a:ln w="17780">
            <a:solidFill>
              <a:srgbClr val="44BE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081528" y="1069848"/>
            <a:ext cx="1737360" cy="1188720"/>
          </a:xfrm>
          <a:prstGeom prst="line">
            <a:avLst/>
          </a:prstGeom>
          <a:ln w="17780">
            <a:solidFill>
              <a:srgbClr val="44BE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4818888" y="1344168"/>
            <a:ext cx="2194560" cy="914400"/>
          </a:xfrm>
          <a:prstGeom prst="line">
            <a:avLst/>
          </a:prstGeom>
          <a:ln w="17780">
            <a:solidFill>
              <a:srgbClr val="44BE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013448" y="1344168"/>
            <a:ext cx="2011680" cy="822960"/>
          </a:xfrm>
          <a:prstGeom prst="line">
            <a:avLst/>
          </a:prstGeom>
          <a:ln w="17780">
            <a:solidFill>
              <a:srgbClr val="44BE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9025128" y="978408"/>
            <a:ext cx="1371600" cy="1188720"/>
          </a:xfrm>
          <a:prstGeom prst="line">
            <a:avLst/>
          </a:prstGeom>
          <a:ln w="17780">
            <a:solidFill>
              <a:srgbClr val="44BE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5943600"/>
            <a:ext cx="530352" cy="914400"/>
          </a:xfrm>
          <a:prstGeom prst="rect">
            <a:avLst/>
          </a:prstGeom>
          <a:solidFill>
            <a:srgbClr val="102A49"/>
          </a:solidFill>
          <a:ln>
            <a:solidFill>
              <a:srgbClr val="102A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1520" y="5440680"/>
            <a:ext cx="530352" cy="1417320"/>
          </a:xfrm>
          <a:prstGeom prst="rect">
            <a:avLst/>
          </a:prstGeom>
          <a:solidFill>
            <a:srgbClr val="102A49"/>
          </a:solidFill>
          <a:ln>
            <a:solidFill>
              <a:srgbClr val="102A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463040" y="6080760"/>
            <a:ext cx="530352" cy="777240"/>
          </a:xfrm>
          <a:prstGeom prst="rect">
            <a:avLst/>
          </a:prstGeom>
          <a:solidFill>
            <a:srgbClr val="102A49"/>
          </a:solidFill>
          <a:ln>
            <a:solidFill>
              <a:srgbClr val="102A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148840" y="5212080"/>
            <a:ext cx="530352" cy="1645920"/>
          </a:xfrm>
          <a:prstGeom prst="rect">
            <a:avLst/>
          </a:prstGeom>
          <a:solidFill>
            <a:srgbClr val="102A49"/>
          </a:solidFill>
          <a:ln>
            <a:solidFill>
              <a:srgbClr val="102A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880360" y="5852160"/>
            <a:ext cx="530352" cy="1005840"/>
          </a:xfrm>
          <a:prstGeom prst="rect">
            <a:avLst/>
          </a:prstGeom>
          <a:solidFill>
            <a:srgbClr val="102A49"/>
          </a:solidFill>
          <a:ln>
            <a:solidFill>
              <a:srgbClr val="102A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0" y="4846320"/>
            <a:ext cx="530352" cy="2011680"/>
          </a:xfrm>
          <a:prstGeom prst="rect">
            <a:avLst/>
          </a:prstGeom>
          <a:solidFill>
            <a:srgbClr val="102A49"/>
          </a:solidFill>
          <a:ln>
            <a:solidFill>
              <a:srgbClr val="102A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0" y="5715000"/>
            <a:ext cx="530352" cy="1143000"/>
          </a:xfrm>
          <a:prstGeom prst="rect">
            <a:avLst/>
          </a:prstGeom>
          <a:solidFill>
            <a:srgbClr val="102A49"/>
          </a:solidFill>
          <a:ln>
            <a:solidFill>
              <a:srgbClr val="102A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86400" y="4389120"/>
            <a:ext cx="530352" cy="2468880"/>
          </a:xfrm>
          <a:prstGeom prst="rect">
            <a:avLst/>
          </a:prstGeom>
          <a:solidFill>
            <a:srgbClr val="102A49"/>
          </a:solidFill>
          <a:ln>
            <a:solidFill>
              <a:srgbClr val="102A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492240" y="5760720"/>
            <a:ext cx="530352" cy="1097280"/>
          </a:xfrm>
          <a:prstGeom prst="rect">
            <a:avLst/>
          </a:prstGeom>
          <a:solidFill>
            <a:srgbClr val="102A49"/>
          </a:solidFill>
          <a:ln>
            <a:solidFill>
              <a:srgbClr val="102A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498079" y="5120640"/>
            <a:ext cx="530352" cy="1737360"/>
          </a:xfrm>
          <a:prstGeom prst="rect">
            <a:avLst/>
          </a:prstGeom>
          <a:solidFill>
            <a:srgbClr val="102A49"/>
          </a:solidFill>
          <a:ln>
            <a:solidFill>
              <a:srgbClr val="102A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595360" y="5943600"/>
            <a:ext cx="530352" cy="914400"/>
          </a:xfrm>
          <a:prstGeom prst="rect">
            <a:avLst/>
          </a:prstGeom>
          <a:solidFill>
            <a:srgbClr val="102A49"/>
          </a:solidFill>
          <a:ln>
            <a:solidFill>
              <a:srgbClr val="102A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509760" y="4937760"/>
            <a:ext cx="530352" cy="1920240"/>
          </a:xfrm>
          <a:prstGeom prst="rect">
            <a:avLst/>
          </a:prstGeom>
          <a:solidFill>
            <a:srgbClr val="102A49"/>
          </a:solidFill>
          <a:ln>
            <a:solidFill>
              <a:srgbClr val="102A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515600" y="5577840"/>
            <a:ext cx="530352" cy="1280160"/>
          </a:xfrm>
          <a:prstGeom prst="rect">
            <a:avLst/>
          </a:prstGeom>
          <a:solidFill>
            <a:srgbClr val="102A49"/>
          </a:solidFill>
          <a:ln>
            <a:solidFill>
              <a:srgbClr val="102A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1430000" y="4663440"/>
            <a:ext cx="530352" cy="2194560"/>
          </a:xfrm>
          <a:prstGeom prst="rect">
            <a:avLst/>
          </a:prstGeom>
          <a:solidFill>
            <a:srgbClr val="102A49"/>
          </a:solidFill>
          <a:ln>
            <a:solidFill>
              <a:srgbClr val="102A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5840" y="1828800"/>
            <a:ext cx="128016" cy="128016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3017520" y="1005840"/>
            <a:ext cx="128016" cy="128016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754880" y="2194560"/>
            <a:ext cx="128016" cy="128016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949440" y="1280160"/>
            <a:ext cx="128016" cy="128016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8961120" y="2103120"/>
            <a:ext cx="128016" cy="128016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332720" y="914400"/>
            <a:ext cx="128016" cy="128016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" name="Connector 49"/>
          <p:cNvCxnSpPr/>
          <p:nvPr/>
        </p:nvCxnSpPr>
        <p:spPr>
          <a:xfrm flipV="1">
            <a:off x="1069848" y="1069848"/>
            <a:ext cx="2011680" cy="822959"/>
          </a:xfrm>
          <a:prstGeom prst="line">
            <a:avLst/>
          </a:prstGeom>
          <a:ln w="17780">
            <a:solidFill>
              <a:srgbClr val="44BE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3081528" y="1069848"/>
            <a:ext cx="1737360" cy="1188720"/>
          </a:xfrm>
          <a:prstGeom prst="line">
            <a:avLst/>
          </a:prstGeom>
          <a:ln w="17780">
            <a:solidFill>
              <a:srgbClr val="44BE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4818888" y="1344168"/>
            <a:ext cx="2194560" cy="914400"/>
          </a:xfrm>
          <a:prstGeom prst="line">
            <a:avLst/>
          </a:prstGeom>
          <a:ln w="17780">
            <a:solidFill>
              <a:srgbClr val="44BE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7013448" y="1344168"/>
            <a:ext cx="2011680" cy="822960"/>
          </a:xfrm>
          <a:prstGeom prst="line">
            <a:avLst/>
          </a:prstGeom>
          <a:ln w="17780">
            <a:solidFill>
              <a:srgbClr val="44BE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9025128" y="978408"/>
            <a:ext cx="1371600" cy="1188720"/>
          </a:xfrm>
          <a:prstGeom prst="line">
            <a:avLst/>
          </a:prstGeom>
          <a:ln w="17780">
            <a:solidFill>
              <a:srgbClr val="44BE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731520" y="1645920"/>
            <a:ext cx="10698480" cy="6400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Microsoft YaHei"/>
              </a:rPr>
              <a:t>向“新”而行  ·  依“绿”而兴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349240" y="2606040"/>
            <a:ext cx="1508760" cy="640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51560" y="3063240"/>
            <a:ext cx="1005840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0" i="0">
                <a:solidFill>
                  <a:srgbClr val="C1D5E9"/>
                </a:solidFill>
                <a:latin typeface="Microsoft YaHei"/>
              </a:rPr>
              <a:t>全力打造全国领先的现代新型城市能源体系“无锡样板”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977639" y="4983480"/>
            <a:ext cx="4206240" cy="256032"/>
          </a:xfrm>
          <a:prstGeom prst="roundRect">
            <a:avLst>
              <a:gd name="adj" fmla="val 8000"/>
            </a:avLst>
          </a:prstGeom>
          <a:solidFill>
            <a:srgbClr val="194258"/>
          </a:solidFill>
          <a:ln>
            <a:solidFill>
              <a:srgbClr val="1942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977639" y="4992624"/>
            <a:ext cx="420624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85E9C9"/>
                </a:solidFill>
                <a:latin typeface="Microsoft YaHei"/>
              </a:rPr>
              <a:t>汇报完毕，敬请各位领导与专家批评指正！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“十五五”时期无锡能源发展规划研究思路</dc:title>
  <dc:subject>无锡现代新型城市能源体系</dc:subject>
  <dc:creator>能源规划专项研究组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