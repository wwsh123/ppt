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7" r:id="rId5"/>
    <p:sldId id="276" r:id="rId6"/>
    <p:sldId id="278" r:id="rId7"/>
    <p:sldId id="259" r:id="rId8"/>
    <p:sldId id="260" r:id="rId9"/>
    <p:sldId id="261" r:id="rId10"/>
    <p:sldId id="275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3" r:id="rId22"/>
    <p:sldId id="274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50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92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9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92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85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7620">
            <a:solidFill>
              <a:srgbClr val="D9E1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30352" y="6565392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68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无锡能源发展规划研究思路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0012680" y="656539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68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2026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941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5B9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“十五五”时期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3258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无锡能源发展规划研究思路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19" y="2578608"/>
            <a:ext cx="53644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构建清洁低碳、安全韧性、数智协同、产用互济的现代新型城市能源体系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822192"/>
            <a:ext cx="1234440" cy="0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13232" y="5123026"/>
            <a:ext cx="1115568" cy="40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5B9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4517136"/>
            <a:ext cx="36814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无锡市发展和改革委员会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江苏省能源研究会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1630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8AA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规划研究思路汇报 |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/ 目录导航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从战略判断到工程落地的六段论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以“问题导向—目标牵引—系统施策—机制保障”组织规划研究逻辑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目录导航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8368" y="1627632"/>
            <a:ext cx="731520" cy="1371600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86384" y="188366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09344" y="1883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核心摘要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9344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战略能位与规划总览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1609344" y="2770632"/>
            <a:ext cx="914400" cy="0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453128" y="1627632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453128" y="1627632"/>
            <a:ext cx="731520" cy="1371600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81144" y="188366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404104" y="1883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发展现状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04104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“十四五”成效评估与瓶颈诊断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404104" y="2770632"/>
            <a:ext cx="914400" cy="0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247888" y="1627632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47888" y="1627632"/>
            <a:ext cx="731520" cy="1371600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375904" y="188366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98864" y="1883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形势特征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98864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重大发展机遇与现实多维挑战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9198864" y="2770632"/>
            <a:ext cx="914400" cy="0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58368" y="3493008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DF4F3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58368" y="3493008"/>
            <a:ext cx="731520" cy="1371600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86384" y="374904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609344" y="3749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总体要求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09344" y="41970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指导思想、2030 指标体系与十六字方针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1609344" y="4636008"/>
            <a:ext cx="914400" cy="0"/>
          </a:xfrm>
          <a:prstGeom prst="line">
            <a:avLst/>
          </a:prstGeom>
          <a:noFill/>
          <a:ln w="25400">
            <a:solidFill>
              <a:srgbClr val="45B9B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453128" y="3493008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DF4F3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453128" y="3493008"/>
            <a:ext cx="731520" cy="1371600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581144" y="374904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404104" y="3749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重点任务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04104" y="41970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六大支撑体系与标志性工程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5404104" y="4636008"/>
            <a:ext cx="914400" cy="0"/>
          </a:xfrm>
          <a:prstGeom prst="line">
            <a:avLst/>
          </a:prstGeom>
          <a:noFill/>
          <a:ln w="25400">
            <a:solidFill>
              <a:srgbClr val="45B9B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47888" y="3493008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DF4F3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247888" y="3493008"/>
            <a:ext cx="731520" cy="1371600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375904" y="374904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9198864" y="3749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保障措施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98864" y="41970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组织协同、碳双控落地与要素支撑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9198864" y="4636008"/>
            <a:ext cx="914400" cy="0"/>
          </a:xfrm>
          <a:prstGeom prst="line">
            <a:avLst/>
          </a:prstGeom>
          <a:noFill/>
          <a:ln w="25400">
            <a:solidFill>
              <a:srgbClr val="45B9B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85800" y="566928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7D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研究主线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81328" y="563270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保供</a:t>
            </a:r>
            <a:r>
              <a:rPr lang="zh-CN" alt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</a:t>
            </a: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绿色增量 → 网络柔性 → 系统调节 → 终端降碳 → 产业互济</a:t>
            </a:r>
            <a:endParaRPr lang="en-US" sz="13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核心摘要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战略方位：城市禀赋、约束边界与破局路径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无锡的关键命题不是“有没有能源”，而是如何在资源匮乏与产业跃升之间重构能源系统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战略摘要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401568" cy="349300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01568" cy="566928"/>
          </a:xfrm>
          <a:prstGeom prst="rect">
            <a:avLst/>
          </a:prstGeom>
          <a:solidFill>
            <a:srgbClr val="C95B55"/>
          </a:solidFill>
          <a:ln w="889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2960" y="1682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市情基底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17373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现实约束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59536" y="2468880"/>
            <a:ext cx="73152" cy="73152"/>
          </a:xfrm>
          <a:prstGeom prst="ellipse">
            <a:avLst/>
          </a:prstGeom>
          <a:solidFill>
            <a:srgbClr val="C95B55"/>
          </a:solidFill>
          <a:ln w="1270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24128" y="2395728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工业双轮驱动：传统重工与“465”先导高新产业并存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" y="3200400"/>
            <a:ext cx="73152" cy="73152"/>
          </a:xfrm>
          <a:prstGeom prst="ellipse">
            <a:avLst/>
          </a:prstGeom>
          <a:solidFill>
            <a:srgbClr val="C95B55"/>
          </a:solidFill>
          <a:ln w="1270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24128" y="3127248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空间生态红线严苛：毗邻太湖，土地水面资源逼近极限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9536" y="3931920"/>
            <a:ext cx="73152" cy="73152"/>
          </a:xfrm>
          <a:prstGeom prst="ellipse">
            <a:avLst/>
          </a:prstGeom>
          <a:solidFill>
            <a:srgbClr val="C95B55"/>
          </a:solidFill>
          <a:ln w="1270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24128" y="3858768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一次能源极度匮乏：自给率＜5%，高度依赖外部输入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43984" y="1554480"/>
            <a:ext cx="3401568" cy="349300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443984" y="1554480"/>
            <a:ext cx="3401568" cy="566928"/>
          </a:xfrm>
          <a:prstGeom prst="rect">
            <a:avLst/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626864" y="1682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指标边界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92824" y="17373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刚性要求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73152" cy="73152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28032" y="2395728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经济中高速增长支撑：GDP 年均约 5% 增长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73152" cy="73152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28032" y="3127248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消费增量本地化约束：东部增量 70% 由本区域生产保障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931920"/>
            <a:ext cx="73152" cy="73152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28032" y="3858768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决胜目标：非化石能源比重达 26%，平稳达峰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47888" y="1554480"/>
            <a:ext cx="3401568" cy="349300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47888" y="1554480"/>
            <a:ext cx="3401568" cy="566928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430768" y="1682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破解逻辑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396728" y="17373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系统施策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467344" y="2468880"/>
            <a:ext cx="73152" cy="7315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631936" y="2395728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内源挖潜：屋顶、水面、废弃物与地热极限利用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67344" y="3200400"/>
            <a:ext cx="73152" cy="7315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31936" y="3127248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跨区引绿：通道、市场、绿证与产业资本协同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67344" y="3931920"/>
            <a:ext cx="73152" cy="7315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631936" y="3858768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氢能代碳 + 源网荷储聚合：把“制造优势”变成“系统能力”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5321808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40080" y="55504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以安全充裕为前提、经济可行为基础、科技创新为引领、体制改革为动力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核心摘要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战略方位：城市禀赋、约束边界与破局路径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战略摘要</a:t>
            </a:r>
            <a:endParaRPr lang="en-US" sz="7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3EB2D749-4F73-831A-5A21-F6E21235F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031404"/>
            <a:ext cx="10373681" cy="52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72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核心摘要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战略方位：城市禀赋、约束边界与破局路径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战略摘要</a:t>
            </a:r>
            <a:endParaRPr lang="en-US" sz="7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3EB2D749-4F73-831A-5A21-F6E21235F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28700"/>
            <a:ext cx="10373681" cy="523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4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核心摘要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战略方位：城市禀赋、约束边界与破局路径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战略摘要</a:t>
            </a:r>
            <a:endParaRPr lang="en-US" sz="7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3EB2D749-4F73-831A-5A21-F6E21235F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080439"/>
            <a:ext cx="10373681" cy="522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595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发展现状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“十四五”保供与能效跨越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底盘稳、效率升、清洁扩容快，但能源系统仍处于“重供给、轻应用”的转型阶段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现状评估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401568" cy="395020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1572768"/>
            <a:ext cx="3401568" cy="713232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2960" y="177393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17465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供应保障与兜底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02996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先立后破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41248" y="2706624"/>
            <a:ext cx="73152" cy="73152"/>
          </a:xfrm>
          <a:prstGeom prst="ellipse">
            <a:avLst/>
          </a:prstGeom>
          <a:solidFill>
            <a:srgbClr val="123B4A"/>
          </a:solidFill>
          <a:ln w="1270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633472"/>
            <a:ext cx="2715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煤炭压舱石：原煤年消费 2200–2500 万吨，港口储运与长协履约率高位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" y="3529584"/>
            <a:ext cx="73152" cy="73152"/>
          </a:xfrm>
          <a:prstGeom prst="ellipse">
            <a:avLst/>
          </a:prstGeom>
          <a:solidFill>
            <a:srgbClr val="123B4A"/>
          </a:solidFill>
          <a:ln w="1270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3456432"/>
            <a:ext cx="2715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电源装机：2025 年总装机 1932.5 万千瓦，非化石升至 42.4%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41248" y="4352544"/>
            <a:ext cx="73152" cy="73152"/>
          </a:xfrm>
          <a:prstGeom prst="ellipse">
            <a:avLst/>
          </a:prstGeom>
          <a:solidFill>
            <a:srgbClr val="123B4A"/>
          </a:solidFill>
          <a:ln w="1270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4279392"/>
            <a:ext cx="2715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多元支撑：煤电 600 万 kW + 气电 514 万 kW + 抽蓄 100 万 kW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53128" y="1572768"/>
            <a:ext cx="3401568" cy="395020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453128" y="1572768"/>
            <a:ext cx="3401568" cy="713232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636008" y="177393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184648" y="17465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消费特征与能效领跑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84648" y="202996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深度脱钩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54296" y="2706624"/>
            <a:ext cx="73152" cy="7315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18888" y="2633472"/>
            <a:ext cx="2715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用电稳步爬坡：全社会用电 918 亿 kWh，年均增 4.85%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54296" y="3529584"/>
            <a:ext cx="73152" cy="7315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18888" y="3456432"/>
            <a:ext cx="2715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 GDP 能耗累计下降 22.9%，超省定目标，居全省第二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54296" y="4352544"/>
            <a:ext cx="73152" cy="7315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818888" y="4279392"/>
            <a:ext cx="2715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绿色制造标杆：国家级绿色工厂 94 家，节能量超 170 万吨标煤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66176" y="1572768"/>
            <a:ext cx="3401568" cy="395020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266176" y="1572768"/>
            <a:ext cx="3401568" cy="713232"/>
          </a:xfrm>
          <a:prstGeom prst="rect">
            <a:avLst/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449056" y="177393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97696" y="17465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清洁扩容与市场破局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97696" y="202996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增长加速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467344" y="2706624"/>
            <a:ext cx="73152" cy="73152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31936" y="2633472"/>
            <a:ext cx="2715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光伏爆发式增长：装机 661 万 kW，复合增速 35.15%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67344" y="3529584"/>
            <a:ext cx="73152" cy="73152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31936" y="3456432"/>
            <a:ext cx="2715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工商业屋顶占 84.9%，分布式成为主战场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67344" y="4352544"/>
            <a:ext cx="73152" cy="73152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631936" y="4279392"/>
            <a:ext cx="2715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绿电交易 17.4 亿 kWh，占全省 15%，建成“一站一中心”</a:t>
            </a:r>
            <a:endParaRPr lang="en-US" sz="10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发展现状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新能源装备集群与应用探索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产业端已形成千亿级集群，下一步要把“产品优势”转译为“本地场景与系统能力”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产业基础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151790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核心竞争力：全产业链“千亿集群”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731273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95528" y="2841001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规上企业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795528" y="3014737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 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3298201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新能源装备链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395728" y="2731273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532888" y="2841001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规上产值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2532888" y="3014737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2336 亿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32888" y="3298201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产业规模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4133088" y="2731273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270248" y="2841001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上市企业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4270248" y="3014737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7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3298201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资本化能力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658368" y="3865129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68096" y="4084585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光伏母机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437719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串焊 / 切片 / PECVD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31136" y="421260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395728" y="3865129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505456" y="4084585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风氢储网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87168" y="437719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风机 / 电解槽 / PCS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968496" y="421260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33088" y="3865129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242816" y="4084585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核心企业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24528" y="437719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先导 / 奥特维 / 弘元 / 远景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46520" y="15179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场景探索：从“设备制造”走向“系统示范”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46520" y="1920240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446520" y="1920240"/>
            <a:ext cx="64008" cy="1078992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629400" y="2075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智能微电网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2432304"/>
            <a:ext cx="4727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无锡新加坡工业园、惠山经开区已开展高韧性微电网示范。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3255264"/>
            <a:ext cx="5074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446520" y="3255264"/>
            <a:ext cx="64008" cy="1078992"/>
          </a:xfrm>
          <a:prstGeom prst="rect">
            <a:avLst/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629400" y="34107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储能与聚合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29400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投运 50 MW / 100 MWh 共享储能，上线市级虚拟电厂运营平台。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4663440"/>
            <a:ext cx="5074920" cy="786384"/>
          </a:xfrm>
          <a:prstGeom prst="roundRect">
            <a:avLst>
              <a:gd name="adj" fmla="val 9302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2" name="Text 40"/>
          <p:cNvSpPr/>
          <p:nvPr/>
        </p:nvSpPr>
        <p:spPr>
          <a:xfrm>
            <a:off x="6446520" y="4884486"/>
            <a:ext cx="5074919" cy="3442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D7A84B"/>
                </a:solidFill>
                <a:latin typeface="Microsoft YaHei" pitchFamily="34" charset="0"/>
                <a:ea typeface="Microsoft YaHei" pitchFamily="34" charset="-122"/>
              </a:rPr>
              <a:t>产业链完整度高，应用侧仍需以开放场景形成“首用、首试、首批量</a:t>
            </a:r>
            <a:r>
              <a:rPr lang="en-US" sz="1200" b="1" dirty="0">
                <a:solidFill>
                  <a:srgbClr val="D7A84B"/>
                </a:solidFill>
                <a:latin typeface="Microsoft YaHei" pitchFamily="34" charset="0"/>
                <a:ea typeface="Microsoft YaHei" pitchFamily="34" charset="-122"/>
              </a:rPr>
              <a:t>”。</a:t>
            </a: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发展现状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当前面临的四大深层次瓶颈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瓶颈诊断</a:t>
            </a:r>
            <a:endParaRPr lang="en-US" sz="7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1E4602AD-B5ED-14CA-7183-9C6176D1A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17" y="1633872"/>
            <a:ext cx="4977442" cy="39674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C3E21A9-DE59-11BD-BFC1-D30A3D79E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742" y="1562403"/>
            <a:ext cx="5061277" cy="4038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发展现状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当前面临的四大深层次瓶颈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四个“剪刀差”共同指向同一结论：无锡需要一套更柔性、更外向、更市场化的能源系统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瓶颈诊断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58368" y="1536192"/>
            <a:ext cx="5074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8890">
            <a:solidFill>
              <a:srgbClr val="C95B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77824" y="1783080"/>
            <a:ext cx="438912" cy="438912"/>
          </a:xfrm>
          <a:prstGeom prst="ellipse">
            <a:avLst/>
          </a:prstGeom>
          <a:solidFill>
            <a:srgbClr val="C95B55"/>
          </a:solidFill>
          <a:ln w="1270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189280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1764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一次能源自给率不足 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06654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5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供给极脆弱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63040" y="2450592"/>
            <a:ext cx="73152" cy="73152"/>
          </a:xfrm>
          <a:prstGeom prst="ellipse">
            <a:avLst/>
          </a:prstGeom>
          <a:solidFill>
            <a:srgbClr val="C95B55"/>
          </a:solidFill>
          <a:ln w="1270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627632" y="2377440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原煤 100% 外调，天然气依赖主干管网转输，受外来电超 20%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1463040" y="2761488"/>
            <a:ext cx="73152" cy="73152"/>
          </a:xfrm>
          <a:prstGeom prst="ellipse">
            <a:avLst/>
          </a:prstGeom>
          <a:solidFill>
            <a:srgbClr val="C95B55"/>
          </a:solidFill>
          <a:ln w="1270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627632" y="2688336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燃气高压闭环未成，应急储气容积相对苏州、常州滞后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144768" y="1536192"/>
            <a:ext cx="5074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8890">
            <a:solidFill>
              <a:srgbClr val="D77F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364224" y="1783080"/>
            <a:ext cx="438912" cy="438912"/>
          </a:xfrm>
          <a:prstGeom prst="ellipse">
            <a:avLst/>
          </a:prstGeom>
          <a:solidFill>
            <a:srgbClr val="D77F3E"/>
          </a:solidFill>
          <a:ln w="12700">
            <a:solidFill>
              <a:srgbClr val="D77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64224" y="189280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0" y="1764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空间刚性约束开发天花板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206654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77F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开源极受限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49440" y="2450592"/>
            <a:ext cx="73152" cy="73152"/>
          </a:xfrm>
          <a:prstGeom prst="ellipse">
            <a:avLst/>
          </a:prstGeom>
          <a:solidFill>
            <a:srgbClr val="D77F3E"/>
          </a:solidFill>
          <a:ln w="12700">
            <a:solidFill>
              <a:srgbClr val="D77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114032" y="2377440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 err="1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国土开发强度逼近极限</a:t>
            </a:r>
            <a:r>
              <a:rPr lang="en-US" sz="86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86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</a:t>
            </a:r>
            <a:r>
              <a:rPr lang="en-US" sz="860" dirty="0" err="1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优质工业屋顶</a:t>
            </a:r>
            <a:r>
              <a:rPr lang="zh-CN" altLang="en-US" sz="86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</a:t>
            </a:r>
            <a:r>
              <a:rPr lang="en-US" sz="860" dirty="0" err="1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铺满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949440" y="2761488"/>
            <a:ext cx="73152" cy="73152"/>
          </a:xfrm>
          <a:prstGeom prst="ellipse">
            <a:avLst/>
          </a:prstGeom>
          <a:solidFill>
            <a:srgbClr val="D77F3E"/>
          </a:solidFill>
          <a:ln w="12700">
            <a:solidFill>
              <a:srgbClr val="D77F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114032" y="2688336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太湖水体与生态红线严控，市域无法布局大规模风光基地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58368" y="3547872"/>
            <a:ext cx="5074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8890">
            <a:solidFill>
              <a:srgbClr val="D7A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77824" y="3794760"/>
            <a:ext cx="438912" cy="438912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77824" y="390448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63040" y="3776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高新算力与外贸绿色需求倒逼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40782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7A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绿电剪刀差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463040" y="4462272"/>
            <a:ext cx="73152" cy="73152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627632" y="4389120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当前非化石消费比重仅 11.7%，远落后于全国 18.5% 与目标 26%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1463040" y="4773168"/>
            <a:ext cx="73152" cy="73152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627632" y="4700016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零电压暂降诉求与 CBAM / 新电池法对全绿电需求暴增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144768" y="3547872"/>
            <a:ext cx="5074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8890">
            <a:solidFill>
              <a:srgbClr val="147D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364224" y="3794760"/>
            <a:ext cx="438912" cy="43891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64224" y="390448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3776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储能调节与配网承载力脱节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40782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7D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电网待柔性化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949440" y="4462272"/>
            <a:ext cx="73152" cy="7315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114032" y="4389120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新型储能仅 16.4 万 kW，长时储能商业闭环缺失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6949440" y="4773168"/>
            <a:ext cx="73152" cy="7315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114032" y="4700016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F2D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分布式光伏反向过载、台区越限频发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658368" y="5669280"/>
            <a:ext cx="10561320" cy="384048"/>
          </a:xfrm>
          <a:prstGeom prst="roundRect">
            <a:avLst>
              <a:gd name="adj" fmla="val 19048"/>
            </a:avLst>
          </a:prstGeom>
          <a:solidFill>
            <a:srgbClr val="F8F0DD"/>
          </a:solidFill>
          <a:ln w="8890">
            <a:solidFill>
              <a:srgbClr val="F8F0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96112" y="5779008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规划启示：以外部绿色电力为主增量，以本地柔性资源为主调节，以产业场景为主突破。</a:t>
            </a:r>
            <a:endParaRPr lang="en-US" sz="10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7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形势特征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“十五五”机遇与挑战研判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窗口期与压力期叠加，规划要把制度红利、通道红利和技术红利转成可执行的项目组合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形势研判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EAF5F1"/>
          </a:solidFill>
          <a:ln w="8890">
            <a:solidFill>
              <a:srgbClr val="C6E4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355080" y="1572768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9EFEC"/>
          </a:solidFill>
          <a:ln w="8890">
            <a:solidFill>
              <a:srgbClr val="ECD4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7D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三大历史性机遇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294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95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四大现实复杂挑战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2395728"/>
            <a:ext cx="347472" cy="34747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14400" y="247802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89888" y="2386584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制度红利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89888" y="2624328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能耗双控向碳排放双控转变，非化石用能不计入总量，释放高新用能空间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0" y="3383280"/>
            <a:ext cx="347472" cy="34747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14400" y="346557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89888" y="3374136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通道拓展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89888" y="361188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长三角一体化协同，特高压、白鹤滩入苏、凤城—梅里形成引绿骨架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4370832"/>
            <a:ext cx="347472" cy="34747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4400" y="445312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89888" y="4361688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技术爆发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4599432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传感网底座融合 AI 与数字孪生，赋能负荷预测、微网控制与市场交易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29400" y="2331720"/>
            <a:ext cx="347472" cy="347472"/>
          </a:xfrm>
          <a:prstGeom prst="ellipse">
            <a:avLst/>
          </a:prstGeom>
          <a:solidFill>
            <a:srgbClr val="C95B55"/>
          </a:solidFill>
          <a:ln w="1270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29400" y="241401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04888" y="2322576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保供立破平衡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04888" y="256032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尖峰负荷将达 1800 万 kW，煤电向调节电源转型伴随深调磨损与机制滞后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29400" y="3108960"/>
            <a:ext cx="347472" cy="347472"/>
          </a:xfrm>
          <a:prstGeom prst="ellipse">
            <a:avLst/>
          </a:prstGeom>
          <a:solidFill>
            <a:srgbClr val="C95B55"/>
          </a:solidFill>
          <a:ln w="1270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29400" y="319125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04888" y="3099816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重工业降碳周期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04888" y="333756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特钢、石化、印染工艺脱碳属百亿级重资产投资，与短期达峰窗口博弈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29400" y="3886200"/>
            <a:ext cx="347472" cy="347472"/>
          </a:xfrm>
          <a:prstGeom prst="ellipse">
            <a:avLst/>
          </a:prstGeom>
          <a:solidFill>
            <a:srgbClr val="C95B55"/>
          </a:solidFill>
          <a:ln w="1270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629400" y="396849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04888" y="3877056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产用生态脱节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04888" y="411480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千亿级装备外向输出与本土场景应用不足的错位尚未打通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29400" y="4663440"/>
            <a:ext cx="347472" cy="347472"/>
          </a:xfrm>
          <a:prstGeom prst="ellipse">
            <a:avLst/>
          </a:prstGeom>
          <a:solidFill>
            <a:srgbClr val="C95B55"/>
          </a:solidFill>
          <a:ln w="12700">
            <a:solidFill>
              <a:srgbClr val="C95B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629400" y="474573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04888" y="4654296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涉外壁垒重塑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04888" y="489204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欧盟电池护照与碳关税落地，全生命周期可信绿电供给迫在眉睫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16752" y="1737360"/>
            <a:ext cx="0" cy="3977640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742432" y="3310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7A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</a:t>
            </a:r>
            <a:endParaRPr lang="en-US" sz="9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总体要求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指导思想与基本原则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以四个关键词组织行动：安全韧性、绿色清洁、数智赋能、产用互济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总体要求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58368" y="150876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4400" y="1810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7A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指导思想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75104" y="1808127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以“安全韧性、绿色清洁、数智赋能、产用互济”为主线，适度超前、破除梗阻，构筑现代新型城市能源体系，护航国际化新质生产力高地，确保 2030 年前碳达峰。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58368" y="306324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58368" y="3063240"/>
            <a:ext cx="146304" cy="1051560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87552" y="326440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先立后破，安全兜底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3584448"/>
            <a:ext cx="4407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煤电灵活性与气电调峰托底，不搞休克式退出，油气储备闭环运行。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44768" y="306324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44768" y="3063240"/>
            <a:ext cx="146304" cy="1051560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73952" y="326440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内生外引，源网协同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3584448"/>
            <a:ext cx="4407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本地屋顶水面立体开发，市外跨区规模化调引，电网柔性重塑。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4416552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58368" y="4416552"/>
            <a:ext cx="146304" cy="1051560"/>
          </a:xfrm>
          <a:prstGeom prst="rect">
            <a:avLst/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87552" y="46177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产用联动，创新驱动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937760"/>
            <a:ext cx="4407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场景换产业，场景试装备，开放首台（套）示范，贯通本地内循环。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44768" y="4416552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144768" y="4416552"/>
            <a:ext cx="146304" cy="1051560"/>
          </a:xfrm>
          <a:prstGeom prst="rect">
            <a:avLst/>
          </a:prstGeom>
          <a:solidFill>
            <a:srgbClr val="2F6F9F"/>
          </a:solidFill>
          <a:ln w="8890">
            <a:solidFill>
              <a:srgbClr val="2F6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73952" y="46177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深化改革，市场主导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3952" y="4937760"/>
            <a:ext cx="4407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电力现货、绿电绿证与碳市场衔接，推行市区两级“碳预算”准入。</a:t>
            </a:r>
            <a:endParaRPr lang="en-US" sz="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总体要求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年主要发展指标体系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用“安全底线、清洁低碳、系统弹性、能效产业”四组指标把战略意图变成可考核的目标体系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指标体系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58368" y="1536192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8368" y="167335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安全底线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536192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64992" y="167335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清洁低碳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71616" y="1536192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071616" y="167335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系统弹性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36192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2F6F9F"/>
          </a:solidFill>
          <a:ln w="8890">
            <a:solidFill>
              <a:srgbClr val="2F6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78240" y="167335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能效产业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2176272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86384" y="2295144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煤炭消费总量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" y="2523744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2400 万吨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2871216"/>
            <a:ext cx="2075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2024：2473.31 万吨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658368" y="3246120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86384" y="3364992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用电量 / 最高负荷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" y="359359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 亿 kWh / 1800 万 kW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3941064"/>
            <a:ext cx="2075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2024：918 / 1452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658368" y="4315968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86384" y="4434840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应急储气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6384" y="4663440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 ≥3 天 / 城燃 ≥5%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" y="5010912"/>
            <a:ext cx="2075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2024：全市 2 天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3364992" y="2176272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493008" y="2295144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非化石能源消费比重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93008" y="2523744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7D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26%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93008" y="2871216"/>
            <a:ext cx="2075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2024：11.7%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3364992" y="3246120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493008" y="3364992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可再生能源装机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93008" y="359359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7D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1200 万 kW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93008" y="3941064"/>
            <a:ext cx="2075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2024：802.8 万 kW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3364992" y="4315968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3493008" y="4434840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区外清洁绿电占比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93008" y="4663440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7D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60%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93008" y="5010912"/>
            <a:ext cx="2075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2024：约 40%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071616" y="2176272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199632" y="2295144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新型储能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99632" y="2523744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7A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100 万 kW / 200 万 kWh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99632" y="2871216"/>
            <a:ext cx="2075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2024：16.4 / 32.8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6071616" y="3246120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199632" y="3364992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VPP / 需求侧调峰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99632" y="359359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7A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最高负荷 5%+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99632" y="3941064"/>
            <a:ext cx="2075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2024：基础试点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8778240" y="2176272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906256" y="2295144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新能源装备产业规模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906256" y="2523744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5500 亿元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906256" y="2871216"/>
            <a:ext cx="2075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2024：约 3500 亿元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8778240" y="3246120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906256" y="3364992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零碳（近零碳）园区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906256" y="359359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家以上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906256" y="3941064"/>
            <a:ext cx="2075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2024：基础创建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658368" y="5687568"/>
            <a:ext cx="10451592" cy="384048"/>
          </a:xfrm>
          <a:prstGeom prst="roundRect">
            <a:avLst>
              <a:gd name="adj" fmla="val 19048"/>
            </a:avLst>
          </a:prstGeom>
          <a:solidFill>
            <a:srgbClr val="F8F0DD"/>
          </a:solidFill>
          <a:ln w="8890">
            <a:solidFill>
              <a:srgbClr val="F8F0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914400" y="5797296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核心攻坚：非化石能源消费比重从 11.7% 提升至 26%，需要“本地挖潜 + 外部引绿 + 终端替代”三线并进。</a:t>
            </a:r>
            <a:endParaRPr lang="en-US" sz="100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重点任务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重点任务（一）：强化传统底盘，筑牢多能互补保供防线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先立后破、煤气协同、储运升级，构建可调可控的能源安全底座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任务一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58368" y="2077675"/>
            <a:ext cx="502920" cy="502920"/>
          </a:xfrm>
          <a:prstGeom prst="ellipse">
            <a:avLst/>
          </a:prstGeom>
          <a:solidFill>
            <a:srgbClr val="123B4A"/>
          </a:solidFill>
          <a:ln w="1270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8368" y="2233123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23395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煤电“三改联动”与灵活性升级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809195"/>
            <a:ext cx="3145536" cy="0"/>
          </a:xfrm>
          <a:prstGeom prst="line">
            <a:avLst/>
          </a:prstGeom>
          <a:noFill/>
          <a:ln w="25400">
            <a:solidFill>
              <a:srgbClr val="123B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8368" y="3028651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 600 万 kW 公用机组深度调峰改造，最低稳燃负荷降至 20%–30%；</a:t>
            </a:r>
            <a:r>
              <a:rPr lang="en-US" sz="1000" dirty="0" err="1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重点推进利港、国能江阴与</a:t>
            </a: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CCUS </a:t>
            </a:r>
            <a:r>
              <a:rPr lang="zh-CN" alt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</a:t>
            </a: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15968" y="2077675"/>
            <a:ext cx="502920" cy="50292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315968" y="2233123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23395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气电尖峰保障与环网联通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15968" y="2809195"/>
            <a:ext cx="3145536" cy="0"/>
          </a:xfrm>
          <a:prstGeom prst="line">
            <a:avLst/>
          </a:prstGeom>
          <a:noFill/>
          <a:ln w="25400">
            <a:solidFill>
              <a:srgbClr val="147D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315968" y="3028651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新建江阴、宜兴燃机扩建工程，新增气电超 160 万 kW；推进天然气高压“一张网”闭环与嘉盛 LNG 调峰码头建设。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73568" y="2077675"/>
            <a:ext cx="502920" cy="502920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973568" y="2233123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0" y="2123395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油气储运与港口清洁枢纽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73568" y="2809195"/>
            <a:ext cx="3145536" cy="0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973568" y="3028651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建设江阴长江下游清洁能源储运枢纽，布局 LNG / 绿色甲醇 / 生物航煤，升级综合加能站。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480060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4400" y="50932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7A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重点工程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50292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利港 / 国能煤电深度调峰｜江阴燃机 / 宜兴燃机｜市属应急储气库二期扩容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重点任务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重点任务（二）：内源挖潜与跨区引绿双轨推进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市域资源做深“极限利用”，跨区通道做强“绿色增量”，共同支撑非化石目标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任务二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EAF5F1"/>
          </a:solidFill>
          <a:ln w="8890">
            <a:solidFill>
              <a:srgbClr val="EAF5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EEF2F7"/>
          </a:solidFill>
          <a:ln w="889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7D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内生挖潜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21945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市域资源</a:t>
            </a:r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r>
              <a:rPr lang="zh-CN" alt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能用尽用</a:t>
            </a:r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56832" y="1847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外引战略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56832" y="21945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 26% </a:t>
            </a:r>
            <a:r>
              <a:rPr lang="en-US" sz="900" dirty="0" err="1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指标的关键</a:t>
            </a:r>
            <a:r>
              <a:rPr lang="zh-CN" alt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0120" y="2606040"/>
            <a:ext cx="440740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60120" y="2606040"/>
            <a:ext cx="64008" cy="822960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276148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分布式光伏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118104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新建厂房 100% 预留载荷 / BIPV </a:t>
            </a:r>
            <a:r>
              <a:rPr lang="en-US" sz="900" dirty="0" err="1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</a:t>
            </a:r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zh-CN" alt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光伏总装机</a:t>
            </a:r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 1000 万 kW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" y="3675888"/>
            <a:ext cx="440740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60120" y="3675888"/>
            <a:ext cx="64008" cy="822960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3000" y="3831336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生物质与浅层地热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187952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有机废弃物厌氧产气 Bio-LNG；新城推广地源热泵供暖制冷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56832" y="2514600"/>
            <a:ext cx="4434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656832" y="2514600"/>
            <a:ext cx="64008" cy="658368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839712" y="2670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省内引绿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39712" y="2990088"/>
            <a:ext cx="4087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通过凤城—梅里跨江通道，合建消纳苏北、沿海陆海风电与核电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56832" y="3383280"/>
            <a:ext cx="4434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656832" y="3383280"/>
            <a:ext cx="64008" cy="658368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39712" y="3538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特高压大动脉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9712" y="3858768"/>
            <a:ext cx="4087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巩固锦苏、白鹤滩入苏水电，年引外电超 180 亿度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56832" y="4251960"/>
            <a:ext cx="4434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656832" y="4251960"/>
            <a:ext cx="64008" cy="658368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839712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多源氢能供给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39712" y="4663440"/>
            <a:ext cx="4087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盘活临港副产氢，预留“西氢东输”市域接口</a:t>
            </a:r>
            <a:endParaRPr lang="en-US" sz="8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重点任务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重点任务（三）：安全柔性的现代能源网络体系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主网强基、配网柔性、终端设施同步升级，匹配先进制造对可靠能源的高敏感需求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任务三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主网强基与配网柔性化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753140"/>
            <a:ext cx="749808" cy="749808"/>
          </a:xfrm>
          <a:prstGeom prst="ellipse">
            <a:avLst/>
          </a:prstGeom>
          <a:solidFill>
            <a:srgbClr val="123B4A"/>
          </a:solidFill>
          <a:ln w="1270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14400" y="29360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 kV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环网互济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flipV="1">
            <a:off x="1664208" y="2753140"/>
            <a:ext cx="987552" cy="374904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651760" y="2323372"/>
            <a:ext cx="749808" cy="749808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51760" y="250625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 kV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分区分策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01568" y="2698276"/>
            <a:ext cx="1051162" cy="329184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89120" y="2753140"/>
            <a:ext cx="749808" cy="749808"/>
          </a:xfrm>
          <a:prstGeom prst="ellipse">
            <a:avLst/>
          </a:prstGeom>
          <a:solidFill>
            <a:srgbClr val="123B4A"/>
          </a:solidFill>
          <a:ln w="1270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89120" y="29360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枢纽变电站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0664" y="4156147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老旧台区智能化改造 → 解决分布式光伏超容倒送与电压越限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5087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专精服务与终端基础设施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201168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00800" y="2011680"/>
            <a:ext cx="64008" cy="786384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583680" y="2167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半导体级高敏感供电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2523744"/>
            <a:ext cx="4544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DVR + 飞轮储能 + 微秒级切换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30632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400800" y="3063240"/>
            <a:ext cx="64008" cy="786384"/>
          </a:xfrm>
          <a:prstGeom prst="rect">
            <a:avLst/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83680" y="3218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“超充之城”示范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3575304"/>
            <a:ext cx="4544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液冷超充桩 5000 根 + 50 座综合加能站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411480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00800" y="4114800"/>
            <a:ext cx="64008" cy="786384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583680" y="4270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氢网初探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4626864"/>
            <a:ext cx="4544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加氢站 15 座以上，局部 HCNG 3%–5% 验证</a:t>
            </a:r>
            <a:endParaRPr lang="en-US" sz="9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重点任务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重点任务（四）：数智协同的弹性系统调节体系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储能多元化、负荷柔性化、微网自愈化，形成城市级“可感知、可预测、可调度”系统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任务四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88920" y="2011680"/>
            <a:ext cx="1325880" cy="132588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1325880" cy="1325880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572000" y="3977640"/>
            <a:ext cx="1325880" cy="1325880"/>
          </a:xfrm>
          <a:prstGeom prst="ellipse">
            <a:avLst/>
          </a:prstGeom>
          <a:solidFill>
            <a:srgbClr val="123B4A"/>
          </a:solidFill>
          <a:ln w="1270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886200" y="2679192"/>
            <a:ext cx="2514600" cy="0"/>
          </a:xfrm>
          <a:prstGeom prst="line">
            <a:avLst/>
          </a:prstGeom>
          <a:noFill/>
          <a:ln w="25400">
            <a:solidFill>
              <a:srgbClr val="D7E0E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657599" y="3063239"/>
            <a:ext cx="1292087" cy="1069847"/>
          </a:xfrm>
          <a:prstGeom prst="line">
            <a:avLst/>
          </a:prstGeom>
          <a:noFill/>
          <a:ln w="25400">
            <a:solidFill>
              <a:srgbClr val="D7E0E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 flipH="1">
            <a:off x="5565913" y="3063240"/>
            <a:ext cx="1063487" cy="941832"/>
          </a:xfrm>
          <a:prstGeom prst="line">
            <a:avLst/>
          </a:prstGeom>
          <a:noFill/>
          <a:ln w="25400">
            <a:solidFill>
              <a:srgbClr val="D7E0E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788920" y="23957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3957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361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微网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自愈化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151790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16.4 万 kW → 100 万 kW / 200 万 kWh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共享储能 + 工商业储能 + 压缩空气 / 液流长时储能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21040" y="187452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321040" y="1874520"/>
            <a:ext cx="64008" cy="960120"/>
          </a:xfrm>
          <a:prstGeom prst="rect">
            <a:avLst/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50392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城市级</a:t>
            </a: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虚拟电厂</a:t>
            </a: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实时竞价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2386584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 100 万 kW 柔性负荷，具备尖峰负荷 5% 削峰能力。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58368" y="5440680"/>
            <a:ext cx="3246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58368" y="5440680"/>
            <a:ext cx="64008" cy="594360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41248" y="5596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车网互动 V2G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0560" y="5440680"/>
            <a:ext cx="3246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480560" y="5440680"/>
            <a:ext cx="64008" cy="594360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663440" y="5596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高韧性微电网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21040" y="544068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21040" y="5440680"/>
            <a:ext cx="64008" cy="594360"/>
          </a:xfrm>
          <a:prstGeom prst="rect">
            <a:avLst/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03920" y="5596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调度中心升级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重点任务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重点任务（五）：节约集约的低碳能源消费体系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把工业、算力、建筑、交通四类终端变成降碳主战场，形成需求侧新增长曲线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任务五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8368" y="1627632"/>
            <a:ext cx="1143000" cy="1325880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2960" y="1856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075688" y="18288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工业再造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75688" y="22219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特钢电炉短流程 / 氢冶金；石化余热余压 100% 梯级利用；印染集中供汽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44768" y="1627632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144768" y="1627632"/>
            <a:ext cx="1143000" cy="1325880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309360" y="1856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62088" y="18288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高新准入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62088" y="22219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新建数据中心 PUE &lt; 1.15；浸没式液冷；绿电直连比例超 80%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273552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58368" y="3273552"/>
            <a:ext cx="1143000" cy="1325880"/>
          </a:xfrm>
          <a:prstGeom prst="rect">
            <a:avLst/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" y="3502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075688" y="34747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城乡能效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75688" y="38679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超低能耗建筑；公共机构全面推行合同能源管理（EMC）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44768" y="3273552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144768" y="3273552"/>
            <a:ext cx="1143000" cy="1325880"/>
          </a:xfrm>
          <a:prstGeom prst="rect">
            <a:avLst/>
          </a:prstGeom>
          <a:solidFill>
            <a:srgbClr val="2F6F9F"/>
          </a:solidFill>
          <a:ln w="8890">
            <a:solidFill>
              <a:srgbClr val="2F6F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309360" y="3502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62088" y="34747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绿色物流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62088" y="38679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氢能商用车超 1500 辆；京杭运河纯电及氢能内河集装箱航线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" y="5074920"/>
            <a:ext cx="10561320" cy="685800"/>
          </a:xfrm>
          <a:prstGeom prst="roundRect">
            <a:avLst>
              <a:gd name="adj" fmla="val 10667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953512" y="5276088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兴澄特钢灯塔工厂脱碳｜临港化工余热互联（年省 15 万吨标煤）｜沿江绿色航运零碳走廊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重点任务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重点任务（六）：产用互济的新能源产业发展体系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5683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以场景开放为钥匙，打通“研发—制造—示范—认证—出海”完整价值链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任务六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20073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“光储氢风网”产业雁阵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01084"/>
            <a:ext cx="1353312" cy="1143000"/>
          </a:xfrm>
          <a:prstGeom prst="roundRect">
            <a:avLst>
              <a:gd name="adj" fmla="val 6400"/>
            </a:avLst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9" name="Text 7"/>
          <p:cNvSpPr/>
          <p:nvPr/>
        </p:nvSpPr>
        <p:spPr>
          <a:xfrm>
            <a:off x="786384" y="298571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光伏 / 风电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30552" y="29491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7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304288" y="2501084"/>
            <a:ext cx="1353312" cy="1143000"/>
          </a:xfrm>
          <a:prstGeom prst="roundRect">
            <a:avLst>
              <a:gd name="adj" fmla="val 6400"/>
            </a:avLst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3" name="Text 11"/>
          <p:cNvSpPr/>
          <p:nvPr/>
        </p:nvSpPr>
        <p:spPr>
          <a:xfrm>
            <a:off x="2359152" y="29399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 / 氢能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29491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7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877056" y="2501084"/>
            <a:ext cx="1353312" cy="1143000"/>
          </a:xfrm>
          <a:prstGeom prst="roundRect">
            <a:avLst>
              <a:gd name="adj" fmla="val 640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7" name="Text 15"/>
          <p:cNvSpPr/>
          <p:nvPr/>
        </p:nvSpPr>
        <p:spPr>
          <a:xfrm>
            <a:off x="3950208" y="29399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数字与认证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991556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E5F0F5"/>
          </a:solidFill>
          <a:ln w="8890">
            <a:solidFill>
              <a:srgbClr val="E5F0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87552" y="42384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6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全域场景开放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5676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建立市级新能源首台（套）场景清单，政府投资与零碳园区向本土自主装备开放验证。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97880" y="2007308"/>
            <a:ext cx="5486400" cy="3081528"/>
          </a:xfrm>
          <a:prstGeom prst="roundRect">
            <a:avLst>
              <a:gd name="adj" fmla="val 2374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217920" y="22999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7A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绿色出海综合护航链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72784" y="2848556"/>
            <a:ext cx="91440" cy="91440"/>
          </a:xfrm>
          <a:prstGeom prst="ellipse">
            <a:avLst/>
          </a:prstGeom>
          <a:solidFill>
            <a:srgbClr val="45B9B2"/>
          </a:solidFill>
          <a:ln w="12700">
            <a:solidFill>
              <a:srgbClr val="45B9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92240" y="27845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长三角新能源出海合规与碳足迹核算认证中心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72784" y="3287468"/>
            <a:ext cx="91440" cy="91440"/>
          </a:xfrm>
          <a:prstGeom prst="ellipse">
            <a:avLst/>
          </a:prstGeom>
          <a:solidFill>
            <a:srgbClr val="45B9B2"/>
          </a:solidFill>
          <a:ln w="12700">
            <a:solidFill>
              <a:srgbClr val="45B9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92240" y="32234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TÜV、SGS 等国际机构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72784" y="3726380"/>
            <a:ext cx="91440" cy="91440"/>
          </a:xfrm>
          <a:prstGeom prst="ellipse">
            <a:avLst/>
          </a:prstGeom>
          <a:solidFill>
            <a:srgbClr val="45B9B2"/>
          </a:solidFill>
          <a:ln w="12700">
            <a:solidFill>
              <a:srgbClr val="45B9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92240" y="36623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区块链溯源 + 数字电池护照一站式认证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72784" y="4165292"/>
            <a:ext cx="91440" cy="91440"/>
          </a:xfrm>
          <a:prstGeom prst="ellipse">
            <a:avLst/>
          </a:prstGeom>
          <a:solidFill>
            <a:srgbClr val="45B9B2"/>
          </a:solidFill>
          <a:ln w="12700">
            <a:solidFill>
              <a:srgbClr val="45B9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92240" y="41012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抵御欧美 CBAM 壁垒，服务外贸企业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保障措施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机制创新、碳双控与要素配置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用一套贯穿年度、区县、项目与市场的治理机制，把规划从“蓝图”变成“闭环”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保障一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783477" y="1828800"/>
            <a:ext cx="658368" cy="658368"/>
          </a:xfrm>
          <a:prstGeom prst="ellipse">
            <a:avLst/>
          </a:prstGeom>
          <a:solidFill>
            <a:srgbClr val="123B4A"/>
          </a:solidFill>
          <a:ln w="1270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83477" y="2039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717" y="2157984"/>
            <a:ext cx="2606040" cy="0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50976" y="31546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组织统筹与机制破局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362102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市双碳领导小组下设能源专班；年初分解、按季预警、年底清算；加氢站并联审批。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797" y="1828800"/>
            <a:ext cx="658368" cy="658368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797" y="2039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4037" y="2157984"/>
            <a:ext cx="2606040" cy="0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434840" y="28803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654296" y="31546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建立“碳预算”与双控管理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54296" y="362102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市区两级碳预算；非化石与原料用能豁免；数字化企业碳账户；重大项目碳效评价前置。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90117" y="1828800"/>
            <a:ext cx="658368" cy="658368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90117" y="2039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28803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357616" y="31546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财税金融与空间要素优保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57616" y="362102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设立新能源新质生产力母基金；推进 REITs 试点；能源基础设施用地“市控 + 区配”。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" y="5413248"/>
            <a:ext cx="10488168" cy="438912"/>
          </a:xfrm>
          <a:prstGeom prst="roundRect">
            <a:avLst>
              <a:gd name="adj" fmla="val 16667"/>
            </a:avLst>
          </a:prstGeom>
          <a:solidFill>
            <a:srgbClr val="F8F0DD"/>
          </a:solidFill>
          <a:ln w="8890">
            <a:solidFill>
              <a:srgbClr val="F8F0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60120" y="5541264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“年度目标、碳预算、项目审批、绿证核销、市场交易”纳入同一张数字化管理台账。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147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保障措施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创新引育、市场改革与社会共治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1051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把人才、市场和公众动员起来，让能源转型从政府专项行动变成城市共同能力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38360" y="347472"/>
            <a:ext cx="1874520" cy="246888"/>
          </a:xfrm>
          <a:prstGeom prst="roundRect">
            <a:avLst>
              <a:gd name="adj" fmla="val 29630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38360" y="3703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保障二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40156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3401568" cy="658368"/>
          </a:xfrm>
          <a:prstGeom prst="rect">
            <a:avLst/>
          </a:prstGeom>
          <a:solidFill>
            <a:srgbClr val="147D80"/>
          </a:solidFill>
          <a:ln w="889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9536" y="1911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4752" y="188366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科技策源与太湖人才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争创先进储能与新型电力系统国家重点实验室；揭榜挂帅攻关钙钛矿、固态电解质、PEM 膜电极；“太湖人才计划”支持算法与碳资产人才。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7824" y="4251960"/>
            <a:ext cx="731520" cy="0"/>
          </a:xfrm>
          <a:prstGeom prst="line">
            <a:avLst/>
          </a:prstGeom>
          <a:noFill/>
          <a:ln w="25400">
            <a:solidFill>
              <a:srgbClr val="147D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471416" y="1691640"/>
            <a:ext cx="340156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471416" y="1691640"/>
            <a:ext cx="3401568" cy="658368"/>
          </a:xfrm>
          <a:prstGeom prst="rect">
            <a:avLst/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72584" y="1911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188366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电力市场化纵深改革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90872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拉大峰谷分时价差，激活储能与需求响应；组建涉外高耗能“绿电消费协作共同体”，常态化跨区采购西部风光绿电。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90872" y="4251960"/>
            <a:ext cx="731520" cy="0"/>
          </a:xfrm>
          <a:prstGeom prst="line">
            <a:avLst/>
          </a:prstGeom>
          <a:noFill/>
          <a:ln w="25400">
            <a:solidFill>
              <a:srgbClr val="123B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284464" y="1691640"/>
            <a:ext cx="340156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D7E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284464" y="1691640"/>
            <a:ext cx="3401568" cy="658368"/>
          </a:xfrm>
          <a:prstGeom prst="rect">
            <a:avLst/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485632" y="1911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70848" y="188366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全民低碳与碳普惠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0" y="274320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建立个人碳积分平台，低碳出行、屋顶余电变积分，构建全民共治生态</a:t>
            </a:r>
            <a:r>
              <a:rPr lang="en-US" sz="1000" dirty="0">
                <a:solidFill>
                  <a:srgbClr val="526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251960"/>
            <a:ext cx="731520" cy="0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58368" y="5349240"/>
            <a:ext cx="10561320" cy="512064"/>
          </a:xfrm>
          <a:prstGeom prst="roundRect">
            <a:avLst>
              <a:gd name="adj" fmla="val 14286"/>
            </a:avLst>
          </a:prstGeom>
          <a:solidFill>
            <a:srgbClr val="123B4A"/>
          </a:solidFill>
          <a:ln w="8890">
            <a:solidFill>
              <a:srgbClr val="123B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7A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546811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让能源成为无锡新质生产力的基础设施、产业升级的放大器、城市韧性的安全垫。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1B687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3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7A84B"/>
          </a:solidFill>
          <a:ln w="889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0F5662"/>
          </a:solidFill>
          <a:ln w="8890">
            <a:solidFill>
              <a:srgbClr val="0F56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41248" y="1143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以高品质清洁能源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41248" y="17556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5B9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支撑无锡新质生产力跃升！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816352"/>
            <a:ext cx="1371600" cy="0"/>
          </a:xfrm>
          <a:prstGeom prst="line">
            <a:avLst/>
          </a:prstGeom>
          <a:noFill/>
          <a:ln w="25400">
            <a:solidFill>
              <a:srgbClr val="D7A84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8680" y="3218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7D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汇报完毕，请各位领导专家批评指正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0" y="1097280"/>
            <a:ext cx="2331720" cy="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326880" y="1810512"/>
            <a:ext cx="2331720" cy="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326880" y="2523744"/>
            <a:ext cx="2331720" cy="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9326880" y="3236976"/>
            <a:ext cx="2331720" cy="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326880" y="3950208"/>
            <a:ext cx="2331720" cy="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326880" y="4663440"/>
            <a:ext cx="2331720" cy="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372600" y="731520"/>
            <a:ext cx="0" cy="438912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902952" y="731520"/>
            <a:ext cx="0" cy="438912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0433304" y="731520"/>
            <a:ext cx="0" cy="438912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963656" y="731520"/>
            <a:ext cx="0" cy="438912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1494008" y="731520"/>
            <a:ext cx="0" cy="4389120"/>
          </a:xfrm>
          <a:prstGeom prst="line">
            <a:avLst/>
          </a:prstGeom>
          <a:noFill/>
          <a:ln w="10160">
            <a:solidFill>
              <a:srgbClr val="4F92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875520" y="1828800"/>
            <a:ext cx="1280160" cy="1280160"/>
          </a:xfrm>
          <a:prstGeom prst="ellipse">
            <a:avLst/>
          </a:prstGeom>
          <a:solidFill>
            <a:srgbClr val="D7A84B"/>
          </a:solidFill>
          <a:ln w="12700">
            <a:solidFill>
              <a:srgbClr val="D7A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0652760" y="2926080"/>
            <a:ext cx="1645920" cy="164592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418320" y="4160520"/>
            <a:ext cx="1097280" cy="1097280"/>
          </a:xfrm>
          <a:prstGeom prst="ellipse">
            <a:avLst/>
          </a:prstGeom>
          <a:solidFill>
            <a:srgbClr val="45B9B2"/>
          </a:solidFill>
          <a:ln w="12700">
            <a:solidFill>
              <a:srgbClr val="45B9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95360" y="6153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CD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无锡能源发展规划研究思路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1403</Words>
  <Application>Microsoft Office PowerPoint</Application>
  <PresentationFormat>宽屏</PresentationFormat>
  <Paragraphs>397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KPMG-style policy consulting 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“十五五”时期无锡能源发展规划研究思路</dc:title>
  <dc:subject>“十五五”时期无锡能源发展规划研究思路</dc:subject>
  <dc:creator>无锡市发展和改革委员会 / 江苏省能源研究会</dc:creator>
  <cp:lastModifiedBy>Wanshan Wang</cp:lastModifiedBy>
  <cp:revision>7</cp:revision>
  <dcterms:created xsi:type="dcterms:W3CDTF">2026-09-20T12:42:20Z</dcterms:created>
  <dcterms:modified xsi:type="dcterms:W3CDTF">2026-09-21T04:11:11Z</dcterms:modified>
</cp:coreProperties>
</file>